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61E9B-A973-4B4C-BDF6-DAE495001D08}" v="11" dt="2026-08-23T08:12:40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>
              <a:solidFill>
                <a:srgbClr val="C79BEA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Mar-17</c:v>
                </c:pt>
                <c:pt idx="1">
                  <c:v>Apr-17</c:v>
                </c:pt>
                <c:pt idx="2">
                  <c:v>May-17</c:v>
                </c:pt>
                <c:pt idx="3">
                  <c:v>Jun-17</c:v>
                </c:pt>
                <c:pt idx="4">
                  <c:v>Jul-17</c:v>
                </c:pt>
                <c:pt idx="5">
                  <c:v>Aug-17</c:v>
                </c:pt>
                <c:pt idx="6">
                  <c:v>Sep-17</c:v>
                </c:pt>
                <c:pt idx="7">
                  <c:v>Oct-17</c:v>
                </c:pt>
                <c:pt idx="8">
                  <c:v>Nov-17</c:v>
                </c:pt>
                <c:pt idx="9">
                  <c:v>Dec-17</c:v>
                </c:pt>
                <c:pt idx="10">
                  <c:v>Jan-18</c:v>
                </c:pt>
                <c:pt idx="11">
                  <c:v>Feb-18</c:v>
                </c:pt>
                <c:pt idx="12">
                  <c:v>Mar-18</c:v>
                </c:pt>
                <c:pt idx="13">
                  <c:v>Apr-18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11702</c:v>
                </c:pt>
                <c:pt idx="1">
                  <c:v>18745</c:v>
                </c:pt>
                <c:pt idx="2">
                  <c:v>17903</c:v>
                </c:pt>
                <c:pt idx="3">
                  <c:v>9408</c:v>
                </c:pt>
                <c:pt idx="4">
                  <c:v>14130</c:v>
                </c:pt>
                <c:pt idx="5">
                  <c:v>10756</c:v>
                </c:pt>
                <c:pt idx="6">
                  <c:v>9956</c:v>
                </c:pt>
                <c:pt idx="7">
                  <c:v>11437</c:v>
                </c:pt>
                <c:pt idx="8">
                  <c:v>20267</c:v>
                </c:pt>
                <c:pt idx="9">
                  <c:v>19387</c:v>
                </c:pt>
                <c:pt idx="10">
                  <c:v>17706</c:v>
                </c:pt>
                <c:pt idx="11">
                  <c:v>15515</c:v>
                </c:pt>
                <c:pt idx="12">
                  <c:v>15623</c:v>
                </c:pt>
                <c:pt idx="13">
                  <c:v>13554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1D-44F4-89E8-1B15758F97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Movies</c:v>
                </c:pt>
              </c:strCache>
            </c:strRef>
          </c:tx>
          <c:spPr>
            <a:ln>
              <a:solidFill>
                <a:srgbClr val="D6006E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Mar-17</c:v>
                </c:pt>
                <c:pt idx="1">
                  <c:v>Apr-17</c:v>
                </c:pt>
                <c:pt idx="2">
                  <c:v>May-17</c:v>
                </c:pt>
                <c:pt idx="3">
                  <c:v>Jun-17</c:v>
                </c:pt>
                <c:pt idx="4">
                  <c:v>Jul-17</c:v>
                </c:pt>
                <c:pt idx="5">
                  <c:v>Aug-17</c:v>
                </c:pt>
                <c:pt idx="6">
                  <c:v>Sep-17</c:v>
                </c:pt>
                <c:pt idx="7">
                  <c:v>Oct-17</c:v>
                </c:pt>
                <c:pt idx="8">
                  <c:v>Nov-17</c:v>
                </c:pt>
                <c:pt idx="9">
                  <c:v>Dec-17</c:v>
                </c:pt>
                <c:pt idx="10">
                  <c:v>Jan-18</c:v>
                </c:pt>
                <c:pt idx="11">
                  <c:v>Feb-18</c:v>
                </c:pt>
                <c:pt idx="12">
                  <c:v>Mar-18</c:v>
                </c:pt>
                <c:pt idx="13">
                  <c:v>Apr-18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6773</c:v>
                </c:pt>
                <c:pt idx="1">
                  <c:v>10069</c:v>
                </c:pt>
                <c:pt idx="2">
                  <c:v>8116</c:v>
                </c:pt>
                <c:pt idx="3">
                  <c:v>4274</c:v>
                </c:pt>
                <c:pt idx="4">
                  <c:v>7070</c:v>
                </c:pt>
                <c:pt idx="5">
                  <c:v>6980</c:v>
                </c:pt>
                <c:pt idx="6">
                  <c:v>5105</c:v>
                </c:pt>
                <c:pt idx="7">
                  <c:v>4527</c:v>
                </c:pt>
                <c:pt idx="8">
                  <c:v>6820</c:v>
                </c:pt>
                <c:pt idx="9">
                  <c:v>6563</c:v>
                </c:pt>
                <c:pt idx="10">
                  <c:v>5933</c:v>
                </c:pt>
                <c:pt idx="11">
                  <c:v>4140</c:v>
                </c:pt>
                <c:pt idx="12">
                  <c:v>4223</c:v>
                </c:pt>
                <c:pt idx="13">
                  <c:v>4179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1D-44F4-89E8-1B15758F97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948BA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D600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53C52"/>
                    </a:solidFill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Users (000s)</c:v>
                </c:pt>
                <c:pt idx="1">
                  <c:v>Watch hrs / user</c:v>
                </c:pt>
                <c:pt idx="2">
                  <c:v>Bounce rate %</c:v>
                </c:pt>
                <c:pt idx="3">
                  <c:v>Median session min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11.4</c:v>
                </c:pt>
                <c:pt idx="1">
                  <c:v>7.5</c:v>
                </c:pt>
                <c:pt idx="2">
                  <c:v>38.1</c:v>
                </c:pt>
                <c:pt idx="3">
                  <c:v>1.3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F22-4AAC-8744-C37537FC79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5B1E8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53C52"/>
                    </a:solidFill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Users (000s)</c:v>
                </c:pt>
                <c:pt idx="1">
                  <c:v>Watch hrs / user</c:v>
                </c:pt>
                <c:pt idx="2">
                  <c:v>Bounce rate %</c:v>
                </c:pt>
                <c:pt idx="3">
                  <c:v>Median session min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</c:v>
                </c:pt>
                <c:pt idx="1">
                  <c:v>52.8</c:v>
                </c:pt>
                <c:pt idx="2">
                  <c:v>18.100000000000001</c:v>
                </c:pt>
                <c:pt idx="3">
                  <c:v>18.600000000000001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F22-4AAC-8744-C37537FC79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6E0E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0E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000">
          <a:solidFill>
            <a:srgbClr val="6E657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views</c:v>
                </c:pt>
              </c:strCache>
            </c:strRef>
          </c:tx>
          <c:spPr>
            <a:solidFill>
              <a:srgbClr val="EFE6F7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D6006E"/>
              </a:solidFill>
            </c:spPr>
            <c:extLst>
              <c:ext xmlns:c16="http://schemas.microsoft.com/office/drawing/2014/chart" uri="{C3380CC4-5D6E-409C-BE32-E72D297353CC}">
                <c16:uniqueId val="{00000001-3D0A-4933-8063-499672E8E0CB}"/>
              </c:ext>
            </c:extLst>
          </c:dPt>
          <c:dPt>
            <c:idx val="6"/>
            <c:invertIfNegative val="1"/>
            <c:bubble3D val="0"/>
            <c:spPr>
              <a:solidFill>
                <a:srgbClr val="D6006E"/>
              </a:solidFill>
            </c:spPr>
            <c:extLst>
              <c:ext xmlns:c16="http://schemas.microsoft.com/office/drawing/2014/chart" uri="{C3380CC4-5D6E-409C-BE32-E72D297353CC}">
                <c16:uniqueId val="{00000003-3D0A-4933-8063-499672E8E0CB}"/>
              </c:ext>
            </c:extLst>
          </c:dPt>
          <c:cat>
            <c:strRef>
              <c:f>Sheet1!$A$2:$A$8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Monday</c:v>
                </c:pt>
                <c:pt idx="3">
                  <c:v>Tuesday</c:v>
                </c:pt>
                <c:pt idx="4">
                  <c:v>Wednesday</c:v>
                </c:pt>
                <c:pt idx="5">
                  <c:v>Thursday</c:v>
                </c:pt>
                <c:pt idx="6">
                  <c:v>Friday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2975</c:v>
                </c:pt>
                <c:pt idx="1">
                  <c:v>2389</c:v>
                </c:pt>
                <c:pt idx="2">
                  <c:v>2529</c:v>
                </c:pt>
                <c:pt idx="3">
                  <c:v>2424</c:v>
                </c:pt>
                <c:pt idx="4">
                  <c:v>2359</c:v>
                </c:pt>
                <c:pt idx="5">
                  <c:v>2446</c:v>
                </c:pt>
                <c:pt idx="6">
                  <c:v>2795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D0A-4933-8063-499672E8E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6E0E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0E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6E657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of views %</c:v>
                </c:pt>
              </c:strCache>
            </c:strRef>
          </c:tx>
          <c:spPr>
            <a:solidFill>
              <a:srgbClr val="5B1E8C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D6006E"/>
              </a:solidFill>
            </c:spPr>
            <c:extLst>
              <c:ext xmlns:c16="http://schemas.microsoft.com/office/drawing/2014/chart" uri="{C3380CC4-5D6E-409C-BE32-E72D297353CC}">
                <c16:uniqueId val="{00000001-1A5B-4410-A4B1-E6C37495CE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1526"/>
                    </a:solidFill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Top 1%
(80 titles)</c:v>
                </c:pt>
                <c:pt idx="1">
                  <c:v>Top 5%
(400)</c:v>
                </c:pt>
                <c:pt idx="2">
                  <c:v>Top 10%
(801)</c:v>
                </c:pt>
                <c:pt idx="3">
                  <c:v>Top 20%
(1,602)</c:v>
                </c:pt>
                <c:pt idx="4">
                  <c:v>Top 22%
(1,762)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28.7</c:v>
                </c:pt>
                <c:pt idx="1">
                  <c:v>51.8</c:v>
                </c:pt>
                <c:pt idx="2">
                  <c:v>64.5</c:v>
                </c:pt>
                <c:pt idx="3">
                  <c:v>78.099999999999994</c:v>
                </c:pt>
                <c:pt idx="4">
                  <c:v>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A5B-4410-A4B1-E6C37495CE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6E0E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0E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6E657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Standardised coefficient</c:v>
                </c:pt>
              </c:strCache>
            </c:strRef>
          </c:tx>
          <c:spPr>
            <a:solidFill>
              <a:srgbClr val="D6006E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0B7A5B"/>
              </a:solidFill>
            </c:spPr>
            <c:extLst>
              <c:ext xmlns:c16="http://schemas.microsoft.com/office/drawing/2014/chart" uri="{C3380CC4-5D6E-409C-BE32-E72D297353CC}">
                <c16:uniqueId val="{00000001-3272-4BEB-8D5C-60B365F21DA7}"/>
              </c:ext>
            </c:extLst>
          </c:dPt>
          <c:dPt>
            <c:idx val="4"/>
            <c:invertIfNegative val="1"/>
            <c:bubble3D val="0"/>
            <c:spPr>
              <a:solidFill>
                <a:srgbClr val="0B7A5B"/>
              </a:solidFill>
            </c:spPr>
            <c:extLst>
              <c:ext xmlns:c16="http://schemas.microsoft.com/office/drawing/2014/chart" uri="{C3380CC4-5D6E-409C-BE32-E72D297353CC}">
                <c16:uniqueId val="{00000003-3272-4BEB-8D5C-60B365F21DA7}"/>
              </c:ext>
            </c:extLst>
          </c:dPt>
          <c:dPt>
            <c:idx val="5"/>
            <c:invertIfNegative val="1"/>
            <c:bubble3D val="0"/>
            <c:spPr>
              <a:solidFill>
                <a:srgbClr val="0B7A5B"/>
              </a:solidFill>
            </c:spPr>
            <c:extLst>
              <c:ext xmlns:c16="http://schemas.microsoft.com/office/drawing/2014/chart" uri="{C3380CC4-5D6E-409C-BE32-E72D297353CC}">
                <c16:uniqueId val="{00000005-3272-4BEB-8D5C-60B365F21D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53C52"/>
                    </a:solidFill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Days since last visit</c:v>
                </c:pt>
                <c:pt idx="1">
                  <c:v>Distinct titles watched</c:v>
                </c:pt>
                <c:pt idx="2">
                  <c:v>Avg session minutes</c:v>
                </c:pt>
                <c:pt idx="3">
                  <c:v>Genres explored</c:v>
                </c:pt>
                <c:pt idx="4">
                  <c:v>Total views</c:v>
                </c:pt>
                <c:pt idx="5">
                  <c:v>Active days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1.4970000000000001</c:v>
                </c:pt>
                <c:pt idx="1">
                  <c:v>0.41899999999999998</c:v>
                </c:pt>
                <c:pt idx="2">
                  <c:v>0.184</c:v>
                </c:pt>
                <c:pt idx="3">
                  <c:v>-0.26</c:v>
                </c:pt>
                <c:pt idx="4">
                  <c:v>-0.224</c:v>
                </c:pt>
                <c:pt idx="5">
                  <c:v>-0.69099999999999995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272-4BEB-8D5C-60B365F21D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6E0E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6E0E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6E657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5C85671-D2BE-468D-8057-38C3A13FAAE7}" type="datetimeFigureOut">
              <a:t>10/03/1448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6150E660-FFED-4825-99F4-7B5A1A9AE7A4}" type="slidenum"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0994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Open on the decline, because it is the only number that buys us the room's attention. Then reframe fast: this is not a content problem. We hold 11,324 distinct assets and 9,616 episodes - supply is not the constraint. The constraint is that the product that retains people (series: 52.83 watch hours per user, 18.07% bounce) is invisible to two thirds of the base, who only ever touch movies (7.47 hours per user, 38.13% bounce). Every slide that follows quantifies one segment of that wall and prices the fix. Land the thesis in one line before moving on: we already own the retention engine, we just never route users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Spend forty seconds here and do not skip the limits box - it is the slide that stops a senior stakeholder from dismissing the rest. State plainly: we have no UI event stream, so we do not claim to know which button people fail to find. What we do have is session-level abandonment, catalogue reach, and content-type conversion, and those three proxies triangulate the same friction with enough confidence to act. If someone asks for hour-of-day peaks, the honest answer is that date_ has no time component; we can prove Saturday, we cannot prove 9 p.m. Offer instrumentation as the Phase 1 ask rather than inventing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This is the analytical heart of the deck. A movie viewer is worth 7.5 hours; a series viewer is worth 52.8 - seven times more. And the median movie session is 1.3 minutes, which is not viewing, it is sampling. Use Friends as the proof point that lands emotionally: 718 people generated 12,841 hours, more watch time than the entire Biography and Documentary catalogues combined. Then make the strategic move explicit - we are not asking for more titles, we are asking to convert movie samplers into episode viewers. On seasonality, be disciplined: Saturday and Friday are provable from T2 and align with the Saudi weekend in this period; hour-of-day is not in the data and we will not assert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Be transparent that this is a proxy funnel, then show why it is still decisive. Three independent measures agree: a catalogue where 80 titles take 28.7% of demand, a library where nearly a fifth of titles are functionally invisible, and a bounce rate of 27.4% that climbs to 38.1% on the movie surface. Those are the fingerprints of a discovery layer that surfaces the same shelf to everyone. The HD-only finding is the sharpest one and worth slowing down for: 4,850 users sit in that segment with an average session of 4.5 minutes and 47.9% bounce. They are not watching, they are opening the app, scrolling, sampling the promoted HD title and leaving. That is a discovery failure with a measurable price tag, and it is 41.9% of our user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The model's message is unusually actionable: churn is driven by absence, not dissatisfaction. Recency outweighs every content variable in the model, and the two strongest protective factors - active days and genres explored - are both things product design controls directly. That converts an abstract churn number into a concrete brief: shorten the gap between visits, and widen the number of genres a user touches early. Note the segment asymmetry before you leave the slide - 930 Low-risk users hold 131,223 hours, more than the 7,803 Critical users put at risk. Defending the core is worth as much as rescuing the tail, and it costs far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Every one of these traces to a number already on the wall, so present them as consequences rather than opinions. Two deserve extra airtime. Recommendation 3 is already built and validated on held-out data - item-based collaborative filtering delivers 3.21x the precision of a popularity baseline, and it correctly returns Trolls, Surf's Up and The Mermaid Princess for Moana viewers without ever being told what a genre is. Recommendation 2 is the honest caveat to Recommendation 3: collaborative filtering is near-useless for a new user, scoring 0.079 against a 0.086 popularity baseline for users with three to five titles. That is the cold-start problem, and a thirty-second taste picker at signup is the cheapest known fix. Ship them together or the launch under-delivers for half the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Close on sequencing discipline. The four quick wins in the top-left quadrant need no new infrastructure and can ship inside a quarter, which is what makes the Phase 2 investment defensible when it comes up for funding. Make the instrumentation ask explicit and unembarrassed: the single highest-leverage item on this roadmap is not a feature, it is the event stream we do not currently collect. Every UX conclusion in this deck was reconstructed from viewing logs because no clickstream exists. Fix that in Phase 1 and the Phase 3 models stop being inferences and start being measurements. End on the KPI table and name the owner for each line before leaving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C79BEA"/>
                </a:solidFill>
                <a:latin typeface="Consolas"/>
              </a:rPr>
              <a:t>STC TV  ·  DATA STORYTELLING &amp; UX STRATEGY  ·  T1 · T2 · T3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071055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The Retention Engine</a:t>
            </a:r>
            <a:br/>
            <a:r>
              <a:rPr sz="4400" b="1">
                <a:solidFill>
                  <a:srgbClr val="FFFFFF"/>
                </a:solidFill>
                <a:latin typeface="Segoe UI"/>
              </a:rPr>
              <a:t>We Already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679673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C4BBD0"/>
                </a:solidFill>
                <a:latin typeface="Segoe UI"/>
              </a:rPr>
              <a:t>Watch time fell 38.5% year over year. The cause is not supply — it is that the product which retains people is invisible to two thirds of the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1D3A"/>
          </a:solidFill>
          <a:ln w="12700">
            <a:solidFill>
              <a:srgbClr val="3D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l">
              <a:spcAft>
                <a:spcPts val="100"/>
              </a:spcAft>
            </a:pPr>
            <a:r>
              <a:rPr sz="1900" b="1">
                <a:solidFill>
                  <a:srgbClr val="C79BEA"/>
                </a:solidFill>
                <a:latin typeface="Consolas"/>
              </a:rPr>
              <a:t>290,861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948BA0"/>
                </a:solidFill>
                <a:latin typeface="Segoe UI"/>
              </a:rPr>
              <a:t>Total watch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46634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1D3A"/>
          </a:solidFill>
          <a:ln w="12700">
            <a:solidFill>
              <a:srgbClr val="3D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l">
              <a:spcAft>
                <a:spcPts val="100"/>
              </a:spcAft>
            </a:pPr>
            <a:r>
              <a:rPr sz="1900" b="1">
                <a:solidFill>
                  <a:srgbClr val="C79BEA"/>
                </a:solidFill>
                <a:latin typeface="Consolas"/>
              </a:rPr>
              <a:t>11,578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948BA0"/>
                </a:solidFill>
                <a:latin typeface="Segoe UI"/>
              </a:rPr>
              <a:t>Unique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8" y="46634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1D3A"/>
          </a:solidFill>
          <a:ln w="12700">
            <a:solidFill>
              <a:srgbClr val="3D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l">
              <a:spcAft>
                <a:spcPts val="100"/>
              </a:spcAft>
            </a:pPr>
            <a:r>
              <a:rPr sz="1900" b="1">
                <a:solidFill>
                  <a:srgbClr val="D6006E"/>
                </a:solidFill>
                <a:latin typeface="Consolas"/>
              </a:rPr>
              <a:t>-38.5%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948BA0"/>
                </a:solidFill>
                <a:latin typeface="Segoe UI"/>
              </a:rPr>
              <a:t>Watch hours, Apr-17 to Apr-18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7" y="46634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1D3A"/>
          </a:solidFill>
          <a:ln w="12700">
            <a:solidFill>
              <a:srgbClr val="3D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l">
              <a:spcAft>
                <a:spcPts val="100"/>
              </a:spcAft>
            </a:pPr>
            <a:r>
              <a:rPr sz="1900" b="1">
                <a:solidFill>
                  <a:srgbClr val="D6006E"/>
                </a:solidFill>
                <a:latin typeface="Consolas"/>
              </a:rPr>
              <a:t>33.7%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948BA0"/>
                </a:solidFill>
                <a:latin typeface="Segoe UI"/>
              </a:rPr>
              <a:t>Users who ever start a series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36815" y="137160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36815" y="44348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48BA0"/>
                </a:solidFill>
                <a:latin typeface="Consolas"/>
              </a:rPr>
              <a:t>Monthly watch hours, Mar 2017 - Apr 2018  (T1)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Method: Three Datasets, One User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7542" y="2302803"/>
            <a:ext cx="2651760" cy="24071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B1E8C"/>
                </a:solidFill>
                <a:latin typeface="Consolas"/>
              </a:rPr>
              <a:t>T1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B1526"/>
                </a:solidFill>
                <a:latin typeface="Segoe UI"/>
              </a:rPr>
              <a:t>Consumption &amp; segmentation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1,048,575 viewing events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11,578 users · 413 days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Genre, quality, session depth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27 derived output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3363" y="2253957"/>
            <a:ext cx="26517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B1E8C"/>
                </a:solidFill>
                <a:latin typeface="Consolas"/>
              </a:rPr>
              <a:t>T2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B1526"/>
                </a:solidFill>
                <a:latin typeface="Segoe UI"/>
              </a:rPr>
              <a:t>Demand seasonality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411 daily observations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Day-of-week peaks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60-day forward forecast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153,360 forecast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1569" y="2253957"/>
            <a:ext cx="26517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B1E8C"/>
                </a:solidFill>
                <a:latin typeface="Consolas"/>
              </a:rPr>
              <a:t>T3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B1526"/>
                </a:solidFill>
                <a:latin typeface="Segoe UI"/>
              </a:rPr>
              <a:t>Recommendation engine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428,022 interactions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6,700 users x 6,927 titles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Held-out evaluation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53C52"/>
                </a:solidFill>
                <a:latin typeface="Segoe UI"/>
              </a:rPr>
              <a:t>• Precision@5 = 0.276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UX friction is inferred from three behavioural proxies in T1: &lt;60s abandonment, catalogue concentration, movie-to-series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Two Products Wearing One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6400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0" y="12344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35661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Peak: Saturday 2,975 · Friday 2,795  (T2, last 12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97763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A series viewer is worth 52.8 hours; a movie viewer 7.5 — seven times more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Median movie session is 1.3 minutes: that is sampling, not viewing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Friends alone drives 12,841 hours from just 718 viewers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Source: T1 · 05_class_scorecard, top10_series  |  T2 · weekday seasonality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Where Discovery Breaks 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6035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348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Catalogue concentration — 8,013 titles ranked by views  (T1)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280160"/>
            <a:ext cx="4480560" cy="713232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ctr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D6006E"/>
                </a:solidFill>
                <a:latin typeface="Consolas"/>
              </a:rPr>
              <a:t>28.7%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E6579"/>
                </a:solidFill>
                <a:latin typeface="Segoe UI"/>
              </a:rPr>
              <a:t>of views go to just 80 titles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121408"/>
            <a:ext cx="4480560" cy="713232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ctr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D6006E"/>
                </a:solidFill>
                <a:latin typeface="Consolas"/>
              </a:rPr>
              <a:t>1,496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E6579"/>
                </a:solidFill>
                <a:latin typeface="Segoe UI"/>
              </a:rPr>
              <a:t>titles got under 10 views in 413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962656"/>
            <a:ext cx="4480560" cy="713232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ctr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D6006E"/>
                </a:solidFill>
                <a:latin typeface="Consolas"/>
              </a:rPr>
              <a:t>27.4%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E6579"/>
                </a:solidFill>
                <a:latin typeface="Segoe UI"/>
              </a:rPr>
              <a:t>of sessions end inside 60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3803904"/>
            <a:ext cx="4480560" cy="713232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ctr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D6006E"/>
                </a:solidFill>
                <a:latin typeface="Consolas"/>
              </a:rPr>
              <a:t>1.1%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E6579"/>
                </a:solidFill>
                <a:latin typeface="Segoe UI"/>
              </a:rPr>
              <a:t>of watch time from 41.9% HD-only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709160"/>
            <a:ext cx="4480560" cy="658368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ctr"/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8630A"/>
                </a:solidFill>
                <a:latin typeface="Consolas"/>
              </a:rPr>
              <a:t>PROXY-DERIVED — inferred from viewing logs, not UI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Churn Is a Recency Problem, Not a Satisfaction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Magenta raises churn risk · green protects retention  (T1 · 24_churn_drivers)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28016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Risk band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Churn rate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Hours at risk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930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8.8%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131,223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1,264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44.2%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41,413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1,345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72.3%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23,784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1048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1048"/>
                          </a:solidFill>
                          <a:latin typeface="Segoe UI"/>
                        </a:rPr>
                        <a:t>7,803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1048"/>
                          </a:solidFill>
                          <a:latin typeface="Segoe UI"/>
                        </a:rPr>
                        <a:t>94.3%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1048"/>
                          </a:solidFill>
                          <a:latin typeface="Segoe UI"/>
                        </a:rPr>
                        <a:t>76,708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34290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7,803 users — 67.4% of the base — churn at 94.3%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Days since last visit outweighs every content variable in the model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Genre breadth protects: Light users explore 2.3 genres, Power users 8.9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>
                <a:solidFill>
                  <a:srgbClr val="453C52"/>
                </a:solidFill>
                <a:latin typeface="Segoe UI"/>
              </a:rPr>
              <a:t>•  930 Low-risk users hold 131,223 hours — more than the Critical band puts at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Seven Moves, Ranked by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Recommendation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E6579"/>
                          </a:solidFill>
                          <a:latin typeface="Segoe UI"/>
                        </a:rPr>
                        <a:t>Effort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Series-first home rail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Series retain 7x the hours per user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7A5B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82296" marR="82296" anchor="ctr">
                    <a:solidFill>
                      <a:srgbClr val="E1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Cold-start taste picker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46.7% of users have &lt;=5 titles; P@5 drops to 0.079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7A5B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82296" marR="82296" anchor="ctr">
                    <a:solidFill>
                      <a:srgbClr val="E1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Ship the CF recommender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P@5 0.276 vs 0.086 popularity — 3.21x lift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8630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A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Recency-triggered win-back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Recency is the top churn coefficient (+1.497)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7A5B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82296" marR="82296" anchor="ctr">
                    <a:solidFill>
                      <a:srgbClr val="E1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Rebuild the first 60 seconds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38.1% movie bounce; median session 1.3 min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8630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A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Long-tail discovery rails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6,251 titles sit outside the top 22%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8630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AEE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8630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A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1E8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526"/>
                          </a:solidFill>
                          <a:latin typeface="Segoe UI"/>
                        </a:rPr>
                        <a:t>Adaptive quality default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526"/>
                          </a:solidFill>
                          <a:latin typeface="Segoe UI"/>
                        </a:rPr>
                        <a:t>Series are 86.9% SD; HD default misroutes retention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8630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82296" marR="82296" anchor="ctr">
                    <a:solidFill>
                      <a:srgbClr val="FAEE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104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Recommendations 2 and 3 must ship together: collaborative filtering is near-useless for a new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02336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B1526"/>
                </a:solidFill>
                <a:latin typeface="Segoe UI"/>
              </a:rPr>
              <a:t>Roadmap, Priorities and the Numbers We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9264"/>
            <a:ext cx="10911535" cy="12700"/>
          </a:xfrm>
          <a:prstGeom prst="roundRect">
            <a:avLst>
              <a:gd name="adj" fmla="val 5000"/>
            </a:avLst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5B1E8C"/>
                </a:solidFill>
                <a:latin typeface="Consolas"/>
              </a:rPr>
              <a:t>IMPACT VS EFFORT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463040"/>
            <a:ext cx="1691640" cy="310896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Low effort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1691640" cy="310896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63040"/>
            <a:ext cx="1691640" cy="310896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73936"/>
            <a:ext cx="105156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High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7739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0B7A5B"/>
                </a:solidFill>
                <a:latin typeface="Segoe UI"/>
              </a:rPr>
              <a:t>1 · Series rail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0B7A5B"/>
                </a:solidFill>
                <a:latin typeface="Segoe UI"/>
              </a:rPr>
              <a:t>2 · Taste picker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0B7A5B"/>
                </a:solidFill>
                <a:latin typeface="Segoe UI"/>
              </a:rPr>
              <a:t>4 · Win-back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739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1E8C"/>
                </a:solidFill>
                <a:latin typeface="Segoe UI"/>
              </a:rPr>
              <a:t>3 · CF recommender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5B1E8C"/>
                </a:solidFill>
                <a:latin typeface="Segoe UI"/>
              </a:rPr>
              <a:t>5 · First 60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7739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688336"/>
            <a:ext cx="105156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Medium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6883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26883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1E8C"/>
                </a:solidFill>
                <a:latin typeface="Segoe UI"/>
              </a:rPr>
              <a:t>6 · Long-tail 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6883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1E8C"/>
                </a:solidFill>
                <a:latin typeface="Segoe UI"/>
              </a:rPr>
              <a:t>7 · Adaptive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02736"/>
            <a:ext cx="105156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E6579"/>
                </a:solidFill>
                <a:latin typeface="Consolas"/>
              </a:rPr>
              <a:t>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36027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83280" y="36027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74920" y="3602736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3EFF7"/>
          </a:solidFill>
          <a:ln w="12700">
            <a:solidFill>
              <a:srgbClr val="E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4864" rIns="6400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5B1E8C"/>
                </a:solidFill>
                <a:latin typeface="Consolas"/>
              </a:rPr>
              <a:t>PHASING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82296" cy="457200"/>
          </a:xfrm>
          <a:prstGeom prst="roundRect">
            <a:avLst>
              <a:gd name="adj" fmla="val 5000"/>
            </a:avLst>
          </a:prstGeom>
          <a:solidFill>
            <a:srgbClr val="0B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B7A5B"/>
                </a:solidFill>
                <a:latin typeface="Consolas"/>
              </a:rPr>
              <a:t>Phase 1 · 0-3 months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53C52"/>
                </a:solidFill>
                <a:latin typeface="Segoe UI"/>
              </a:rPr>
              <a:t>Taste picker · Continue Watching rail · win-back triggers · EVENT INSTRUMENTATION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04688"/>
            <a:ext cx="82296" cy="457200"/>
          </a:xfrm>
          <a:prstGeom prst="roundRect">
            <a:avLst>
              <a:gd name="adj" fmla="val 5000"/>
            </a:avLst>
          </a:prstGeom>
          <a:solidFill>
            <a:srgbClr val="5B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504688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5B1E8C"/>
                </a:solidFill>
                <a:latin typeface="Consolas"/>
              </a:rPr>
              <a:t>Phase 2 · 3-6 months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53C52"/>
                </a:solidFill>
                <a:latin typeface="Segoe UI"/>
              </a:rPr>
              <a:t>Recommender in production · first-60-seconds rebuild · long-tail rails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071616"/>
            <a:ext cx="82296" cy="457200"/>
          </a:xfrm>
          <a:prstGeom prst="roundRect">
            <a:avLst>
              <a:gd name="adj" fmla="val 5000"/>
            </a:avLst>
          </a:prstGeom>
          <a:solidFill>
            <a:srgbClr val="6E65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6071616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6E6579"/>
                </a:solidFill>
                <a:latin typeface="Consolas"/>
              </a:rPr>
              <a:t>Phase 3 · 6-12 months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53C52"/>
                </a:solidFill>
                <a:latin typeface="Segoe UI"/>
              </a:rPr>
              <a:t>Adaptive quality · segment-specific home screens · retrain on real clickstream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170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5B1E8C"/>
                </a:solidFill>
                <a:latin typeface="Consolas"/>
              </a:rPr>
              <a:t>KPI SCORECARD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040880" y="1463040"/>
          <a:ext cx="4480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E6579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E6579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E6579"/>
                          </a:solidFill>
                          <a:latin typeface="Segoe UI"/>
                        </a:rPr>
                        <a:t>12-mo target</a:t>
                      </a:r>
                    </a:p>
                  </a:txBody>
                  <a:tcPr marL="82296" marR="82296" anchor="ctr">
                    <a:solidFill>
                      <a:srgbClr val="F3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Sessions abandoned &lt;60s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27.4%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20.0%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Users who start a series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33.7%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45.0%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Watch hours per user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25.1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30.0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Users in Critical band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67.4%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50.0%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Recommender Precision@5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0.276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0.350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Catalogue driving 80% of views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22.0%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35.0%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526"/>
                          </a:solidFill>
                          <a:latin typeface="Segoe UI"/>
                        </a:rPr>
                        <a:t>Event instrumentation coverage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1526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1E8C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82296" marR="82296" anchor="ctr">
                    <a:solidFill>
                      <a:srgbClr val="FC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579"/>
                </a:solidFill>
                <a:latin typeface="Consolas"/>
              </a:rPr>
              <a:t>The highest-leverage item on this roadmap is not a feature — it is the event stream we do not currently collect.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شاشة عريضة</PresentationFormat>
  <Paragraphs>0</Paragraphs>
  <Slides>7</Slides>
  <Notes>7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8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2026-08-23T08:13:42Z</dcterms:modified>
  <cp:category/>
</cp:coreProperties>
</file>