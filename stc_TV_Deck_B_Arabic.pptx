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4.xml" ContentType="application/vnd.openxmlformats-officedocument.presentationml.notesSlide+xml"/>
  <Override PartName="/ppt/charts/chart4.xml" ContentType="application/vnd.openxmlformats-officedocument.drawingml.chart+xml"/>
  <Override PartName="/ppt/notesSlides/notesSlide5.xml" ContentType="application/vnd.openxmlformats-officedocument.presentationml.notesSlide+xml"/>
  <Override PartName="/ppt/charts/chart5.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3D2109-5BCD-4E33-A517-F2134ECD1A71}" v="7" dt="2026-08-23T08:14:34.1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1"/>
  <c:style val="2"/>
  <c:chart>
    <c:autoTitleDeleted val="0"/>
    <c:plotArea>
      <c:layout/>
      <c:lineChart>
        <c:grouping val="standard"/>
        <c:varyColors val="0"/>
        <c:ser>
          <c:idx val="0"/>
          <c:order val="0"/>
          <c:tx>
            <c:strRef>
              <c:f>Sheet1!$B$1</c:f>
              <c:strCache>
                <c:ptCount val="1"/>
                <c:pt idx="0">
                  <c:v>المسلسلات</c:v>
                </c:pt>
              </c:strCache>
            </c:strRef>
          </c:tx>
          <c:spPr>
            <a:ln>
              <a:solidFill>
                <a:srgbClr val="C79BEA"/>
              </a:solidFill>
            </a:ln>
          </c:spPr>
          <c:marker>
            <c:symbol val="none"/>
          </c:marker>
          <c:cat>
            <c:strRef>
              <c:f>Sheet1!$A$2:$A$15</c:f>
              <c:strCache>
                <c:ptCount val="14"/>
                <c:pt idx="0">
                  <c:v>Mar-17</c:v>
                </c:pt>
                <c:pt idx="1">
                  <c:v>Apr-17</c:v>
                </c:pt>
                <c:pt idx="2">
                  <c:v>May-17</c:v>
                </c:pt>
                <c:pt idx="3">
                  <c:v>Jun-17</c:v>
                </c:pt>
                <c:pt idx="4">
                  <c:v>Jul-17</c:v>
                </c:pt>
                <c:pt idx="5">
                  <c:v>Aug-17</c:v>
                </c:pt>
                <c:pt idx="6">
                  <c:v>Sep-17</c:v>
                </c:pt>
                <c:pt idx="7">
                  <c:v>Oct-17</c:v>
                </c:pt>
                <c:pt idx="8">
                  <c:v>Nov-17</c:v>
                </c:pt>
                <c:pt idx="9">
                  <c:v>Dec-17</c:v>
                </c:pt>
                <c:pt idx="10">
                  <c:v>Jan-18</c:v>
                </c:pt>
                <c:pt idx="11">
                  <c:v>Feb-18</c:v>
                </c:pt>
                <c:pt idx="12">
                  <c:v>Mar-18</c:v>
                </c:pt>
                <c:pt idx="13">
                  <c:v>Apr-18</c:v>
                </c:pt>
              </c:strCache>
            </c:strRef>
          </c:cat>
          <c:val>
            <c:numRef>
              <c:f>Sheet1!$B$2:$B$15</c:f>
              <c:numCache>
                <c:formatCode>General</c:formatCode>
                <c:ptCount val="14"/>
                <c:pt idx="0">
                  <c:v>11702</c:v>
                </c:pt>
                <c:pt idx="1">
                  <c:v>18745</c:v>
                </c:pt>
                <c:pt idx="2">
                  <c:v>17903</c:v>
                </c:pt>
                <c:pt idx="3">
                  <c:v>9408</c:v>
                </c:pt>
                <c:pt idx="4">
                  <c:v>14130</c:v>
                </c:pt>
                <c:pt idx="5">
                  <c:v>10756</c:v>
                </c:pt>
                <c:pt idx="6">
                  <c:v>9956</c:v>
                </c:pt>
                <c:pt idx="7">
                  <c:v>11437</c:v>
                </c:pt>
                <c:pt idx="8">
                  <c:v>20267</c:v>
                </c:pt>
                <c:pt idx="9">
                  <c:v>19387</c:v>
                </c:pt>
                <c:pt idx="10">
                  <c:v>17706</c:v>
                </c:pt>
                <c:pt idx="11">
                  <c:v>15515</c:v>
                </c:pt>
                <c:pt idx="12">
                  <c:v>15623</c:v>
                </c:pt>
                <c:pt idx="13">
                  <c:v>13554</c:v>
                </c:pt>
              </c:numCache>
            </c:numRef>
          </c:val>
          <c:smooth val="0"/>
          <c:extLst>
            <c:ext xmlns:c16="http://schemas.microsoft.com/office/drawing/2014/chart" uri="{C3380CC4-5D6E-409C-BE32-E72D297353CC}">
              <c16:uniqueId val="{00000000-FAB1-4D35-931D-38534F5F2476}"/>
            </c:ext>
          </c:extLst>
        </c:ser>
        <c:ser>
          <c:idx val="1"/>
          <c:order val="1"/>
          <c:tx>
            <c:strRef>
              <c:f>Sheet1!$C$1</c:f>
              <c:strCache>
                <c:ptCount val="1"/>
                <c:pt idx="0">
                  <c:v>الأفلام</c:v>
                </c:pt>
              </c:strCache>
            </c:strRef>
          </c:tx>
          <c:spPr>
            <a:ln>
              <a:solidFill>
                <a:srgbClr val="D6006E"/>
              </a:solidFill>
            </a:ln>
          </c:spPr>
          <c:marker>
            <c:symbol val="none"/>
          </c:marker>
          <c:cat>
            <c:strRef>
              <c:f>Sheet1!$A$2:$A$15</c:f>
              <c:strCache>
                <c:ptCount val="14"/>
                <c:pt idx="0">
                  <c:v>Mar-17</c:v>
                </c:pt>
                <c:pt idx="1">
                  <c:v>Apr-17</c:v>
                </c:pt>
                <c:pt idx="2">
                  <c:v>May-17</c:v>
                </c:pt>
                <c:pt idx="3">
                  <c:v>Jun-17</c:v>
                </c:pt>
                <c:pt idx="4">
                  <c:v>Jul-17</c:v>
                </c:pt>
                <c:pt idx="5">
                  <c:v>Aug-17</c:v>
                </c:pt>
                <c:pt idx="6">
                  <c:v>Sep-17</c:v>
                </c:pt>
                <c:pt idx="7">
                  <c:v>Oct-17</c:v>
                </c:pt>
                <c:pt idx="8">
                  <c:v>Nov-17</c:v>
                </c:pt>
                <c:pt idx="9">
                  <c:v>Dec-17</c:v>
                </c:pt>
                <c:pt idx="10">
                  <c:v>Jan-18</c:v>
                </c:pt>
                <c:pt idx="11">
                  <c:v>Feb-18</c:v>
                </c:pt>
                <c:pt idx="12">
                  <c:v>Mar-18</c:v>
                </c:pt>
                <c:pt idx="13">
                  <c:v>Apr-18</c:v>
                </c:pt>
              </c:strCache>
            </c:strRef>
          </c:cat>
          <c:val>
            <c:numRef>
              <c:f>Sheet1!$C$2:$C$15</c:f>
              <c:numCache>
                <c:formatCode>General</c:formatCode>
                <c:ptCount val="14"/>
                <c:pt idx="0">
                  <c:v>6773</c:v>
                </c:pt>
                <c:pt idx="1">
                  <c:v>10069</c:v>
                </c:pt>
                <c:pt idx="2">
                  <c:v>8116</c:v>
                </c:pt>
                <c:pt idx="3">
                  <c:v>4274</c:v>
                </c:pt>
                <c:pt idx="4">
                  <c:v>7070</c:v>
                </c:pt>
                <c:pt idx="5">
                  <c:v>6980</c:v>
                </c:pt>
                <c:pt idx="6">
                  <c:v>5105</c:v>
                </c:pt>
                <c:pt idx="7">
                  <c:v>4527</c:v>
                </c:pt>
                <c:pt idx="8">
                  <c:v>6820</c:v>
                </c:pt>
                <c:pt idx="9">
                  <c:v>6563</c:v>
                </c:pt>
                <c:pt idx="10">
                  <c:v>5933</c:v>
                </c:pt>
                <c:pt idx="11">
                  <c:v>4140</c:v>
                </c:pt>
                <c:pt idx="12">
                  <c:v>4223</c:v>
                </c:pt>
                <c:pt idx="13">
                  <c:v>4179</c:v>
                </c:pt>
              </c:numCache>
            </c:numRef>
          </c:val>
          <c:smooth val="0"/>
          <c:extLst>
            <c:ext xmlns:c16="http://schemas.microsoft.com/office/drawing/2014/chart" uri="{C3380CC4-5D6E-409C-BE32-E72D297353CC}">
              <c16:uniqueId val="{00000001-FAB1-4D35-931D-38534F5F2476}"/>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numFmt formatCode="General" sourceLinked="1"/>
        <c:majorTickMark val="out"/>
        <c:minorTickMark val="none"/>
        <c:tickLblPos val="nextTo"/>
        <c:crossAx val="2118791784"/>
        <c:crosses val="autoZero"/>
        <c:crossBetween val="between"/>
      </c:valAx>
    </c:plotArea>
    <c:legend>
      <c:legendPos val="b"/>
      <c:overlay val="0"/>
    </c:legend>
    <c:plotVisOnly val="1"/>
    <c:dispBlanksAs val="gap"/>
    <c:showDLblsOverMax val="0"/>
  </c:chart>
  <c:txPr>
    <a:bodyPr/>
    <a:lstStyle/>
    <a:p>
      <a:pPr>
        <a:defRPr sz="900">
          <a:solidFill>
            <a:srgbClr val="948BA0"/>
          </a:solidFill>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1"/>
  <c:style val="2"/>
  <c:chart>
    <c:autoTitleDeleted val="0"/>
    <c:plotArea>
      <c:layout/>
      <c:barChart>
        <c:barDir val="col"/>
        <c:grouping val="clustered"/>
        <c:varyColors val="1"/>
        <c:ser>
          <c:idx val="0"/>
          <c:order val="0"/>
          <c:tx>
            <c:strRef>
              <c:f>Sheet1!$B$1</c:f>
              <c:strCache>
                <c:ptCount val="1"/>
                <c:pt idx="0">
                  <c:v>الأفلام</c:v>
                </c:pt>
              </c:strCache>
            </c:strRef>
          </c:tx>
          <c:spPr>
            <a:solidFill>
              <a:srgbClr val="D6006E"/>
            </a:solidFill>
          </c:spPr>
          <c:invertIfNegative val="1"/>
          <c:dLbls>
            <c:spPr>
              <a:noFill/>
              <a:ln>
                <a:noFill/>
              </a:ln>
              <a:effectLst/>
            </c:spPr>
            <c:txPr>
              <a:bodyPr/>
              <a:lstStyle/>
              <a:p>
                <a:pPr>
                  <a:defRPr sz="900">
                    <a:solidFill>
                      <a:srgbClr val="453C52"/>
                    </a:solidFill>
                  </a:defRPr>
                </a:pPr>
                <a:endParaRPr lang="ar-S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المستخدمون (بالآلاف)</c:v>
                </c:pt>
                <c:pt idx="1">
                  <c:v>ساعات لكل مستخدم</c:v>
                </c:pt>
                <c:pt idx="2">
                  <c:v>معدل الهجر %</c:v>
                </c:pt>
                <c:pt idx="3">
                  <c:v>وسيط الجلسة بالدقائق</c:v>
                </c:pt>
              </c:strCache>
            </c:strRef>
          </c:cat>
          <c:val>
            <c:numRef>
              <c:f>Sheet1!$B$2:$B$5</c:f>
              <c:numCache>
                <c:formatCode>General</c:formatCode>
                <c:ptCount val="4"/>
                <c:pt idx="0">
                  <c:v>11.4</c:v>
                </c:pt>
                <c:pt idx="1">
                  <c:v>7.5</c:v>
                </c:pt>
                <c:pt idx="2">
                  <c:v>38.1</c:v>
                </c:pt>
                <c:pt idx="3">
                  <c:v>1.3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A99-48B8-8164-AD2F5C22CC28}"/>
            </c:ext>
          </c:extLst>
        </c:ser>
        <c:ser>
          <c:idx val="1"/>
          <c:order val="1"/>
          <c:tx>
            <c:strRef>
              <c:f>Sheet1!$C$1</c:f>
              <c:strCache>
                <c:ptCount val="1"/>
                <c:pt idx="0">
                  <c:v>المسلسلات</c:v>
                </c:pt>
              </c:strCache>
            </c:strRef>
          </c:tx>
          <c:spPr>
            <a:solidFill>
              <a:srgbClr val="5B1E8C"/>
            </a:solidFill>
          </c:spPr>
          <c:invertIfNegative val="1"/>
          <c:dLbls>
            <c:spPr>
              <a:noFill/>
              <a:ln>
                <a:noFill/>
              </a:ln>
              <a:effectLst/>
            </c:spPr>
            <c:txPr>
              <a:bodyPr/>
              <a:lstStyle/>
              <a:p>
                <a:pPr>
                  <a:defRPr sz="900">
                    <a:solidFill>
                      <a:srgbClr val="453C52"/>
                    </a:solidFill>
                  </a:defRPr>
                </a:pPr>
                <a:endParaRPr lang="ar-S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المستخدمون (بالآلاف)</c:v>
                </c:pt>
                <c:pt idx="1">
                  <c:v>ساعات لكل مستخدم</c:v>
                </c:pt>
                <c:pt idx="2">
                  <c:v>معدل الهجر %</c:v>
                </c:pt>
                <c:pt idx="3">
                  <c:v>وسيط الجلسة بالدقائق</c:v>
                </c:pt>
              </c:strCache>
            </c:strRef>
          </c:cat>
          <c:val>
            <c:numRef>
              <c:f>Sheet1!$C$2:$C$5</c:f>
              <c:numCache>
                <c:formatCode>General</c:formatCode>
                <c:ptCount val="4"/>
                <c:pt idx="0">
                  <c:v>3.9</c:v>
                </c:pt>
                <c:pt idx="1">
                  <c:v>52.8</c:v>
                </c:pt>
                <c:pt idx="2">
                  <c:v>18.100000000000001</c:v>
                </c:pt>
                <c:pt idx="3">
                  <c:v>18.600000000000001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FA99-48B8-8164-AD2F5C22CC28}"/>
            </c:ext>
          </c:extLst>
        </c:ser>
        <c:dLbls>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E6E0EC"/>
            </a:solidFill>
          </a:ln>
        </c:spPr>
        <c:crossAx val="-2113994440"/>
        <c:crosses val="autoZero"/>
        <c:auto val="1"/>
        <c:lblAlgn val="ctr"/>
        <c:lblOffset val="100"/>
        <c:noMultiLvlLbl val="0"/>
      </c:catAx>
      <c:valAx>
        <c:axId val="-2113994440"/>
        <c:scaling>
          <c:orientation val="minMax"/>
        </c:scaling>
        <c:delete val="0"/>
        <c:axPos val="l"/>
        <c:majorGridlines>
          <c:spPr>
            <a:ln>
              <a:solidFill>
                <a:srgbClr val="E6E0EC"/>
              </a:solidFill>
            </a:ln>
          </c:spPr>
        </c:majorGridlines>
        <c:numFmt formatCode="General" sourceLinked="1"/>
        <c:majorTickMark val="out"/>
        <c:minorTickMark val="none"/>
        <c:tickLblPos val="nextTo"/>
        <c:spPr>
          <a:ln>
            <a:noFill/>
          </a:ln>
        </c:spPr>
        <c:crossAx val="-2068027336"/>
        <c:crosses val="autoZero"/>
        <c:crossBetween val="between"/>
      </c:valAx>
    </c:plotArea>
    <c:legend>
      <c:legendPos val="b"/>
      <c:overlay val="0"/>
    </c:legend>
    <c:plotVisOnly val="1"/>
    <c:dispBlanksAs val="gap"/>
    <c:showDLblsOverMax val="1"/>
  </c:chart>
  <c:txPr>
    <a:bodyPr/>
    <a:lstStyle/>
    <a:p>
      <a:pPr>
        <a:defRPr sz="1000">
          <a:solidFill>
            <a:srgbClr val="6E6579"/>
          </a:solidFill>
          <a:latin typeface="Segoe U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1"/>
  <c:style val="2"/>
  <c:chart>
    <c:title>
      <c:overlay val="0"/>
    </c:title>
    <c:autoTitleDeleted val="0"/>
    <c:plotArea>
      <c:layout/>
      <c:barChart>
        <c:barDir val="col"/>
        <c:grouping val="clustered"/>
        <c:varyColors val="1"/>
        <c:ser>
          <c:idx val="0"/>
          <c:order val="0"/>
          <c:tx>
            <c:strRef>
              <c:f>Sheet1!$B$1</c:f>
              <c:strCache>
                <c:ptCount val="1"/>
                <c:pt idx="0">
                  <c:v>متوسط المشاهدات اليومية</c:v>
                </c:pt>
              </c:strCache>
            </c:strRef>
          </c:tx>
          <c:spPr>
            <a:solidFill>
              <a:srgbClr val="EFE6F7"/>
            </a:solidFill>
          </c:spPr>
          <c:invertIfNegative val="1"/>
          <c:dPt>
            <c:idx val="0"/>
            <c:invertIfNegative val="1"/>
            <c:bubble3D val="0"/>
            <c:spPr>
              <a:solidFill>
                <a:srgbClr val="D6006E"/>
              </a:solidFill>
            </c:spPr>
            <c:extLst>
              <c:ext xmlns:c16="http://schemas.microsoft.com/office/drawing/2014/chart" uri="{C3380CC4-5D6E-409C-BE32-E72D297353CC}">
                <c16:uniqueId val="{00000001-0F0C-416C-8DC1-CE28B6512265}"/>
              </c:ext>
            </c:extLst>
          </c:dPt>
          <c:dPt>
            <c:idx val="6"/>
            <c:invertIfNegative val="1"/>
            <c:bubble3D val="0"/>
            <c:spPr>
              <a:solidFill>
                <a:srgbClr val="D6006E"/>
              </a:solidFill>
            </c:spPr>
            <c:extLst>
              <c:ext xmlns:c16="http://schemas.microsoft.com/office/drawing/2014/chart" uri="{C3380CC4-5D6E-409C-BE32-E72D297353CC}">
                <c16:uniqueId val="{00000003-0F0C-416C-8DC1-CE28B6512265}"/>
              </c:ext>
            </c:extLst>
          </c:dPt>
          <c:cat>
            <c:strRef>
              <c:f>Sheet1!$A$2:$A$8</c:f>
              <c:strCache>
                <c:ptCount val="7"/>
                <c:pt idx="0">
                  <c:v>السبت</c:v>
                </c:pt>
                <c:pt idx="1">
                  <c:v>الأحد</c:v>
                </c:pt>
                <c:pt idx="2">
                  <c:v>الاثنين</c:v>
                </c:pt>
                <c:pt idx="3">
                  <c:v>الثلاثاء</c:v>
                </c:pt>
                <c:pt idx="4">
                  <c:v>الأربعاء</c:v>
                </c:pt>
                <c:pt idx="5">
                  <c:v>الخميس</c:v>
                </c:pt>
                <c:pt idx="6">
                  <c:v>الجمعة</c:v>
                </c:pt>
              </c:strCache>
            </c:strRef>
          </c:cat>
          <c:val>
            <c:numRef>
              <c:f>Sheet1!$B$2:$B$8</c:f>
              <c:numCache>
                <c:formatCode>General</c:formatCode>
                <c:ptCount val="7"/>
                <c:pt idx="0">
                  <c:v>2975</c:v>
                </c:pt>
                <c:pt idx="1">
                  <c:v>2389</c:v>
                </c:pt>
                <c:pt idx="2">
                  <c:v>2529</c:v>
                </c:pt>
                <c:pt idx="3">
                  <c:v>2424</c:v>
                </c:pt>
                <c:pt idx="4">
                  <c:v>2359</c:v>
                </c:pt>
                <c:pt idx="5">
                  <c:v>2446</c:v>
                </c:pt>
                <c:pt idx="6">
                  <c:v>2795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0F0C-416C-8DC1-CE28B6512265}"/>
            </c:ext>
          </c:extLst>
        </c:ser>
        <c:dLbls>
          <c:showLegendKey val="0"/>
          <c:showVal val="0"/>
          <c:showCatName val="0"/>
          <c:showSerName val="0"/>
          <c:showPercent val="0"/>
          <c:showBubbleSize val="0"/>
        </c:dLbls>
        <c:gapWidth val="4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E6E0EC"/>
            </a:solidFill>
          </a:ln>
        </c:spPr>
        <c:crossAx val="-2113994440"/>
        <c:crosses val="autoZero"/>
        <c:auto val="1"/>
        <c:lblAlgn val="ctr"/>
        <c:lblOffset val="100"/>
        <c:noMultiLvlLbl val="0"/>
      </c:catAx>
      <c:valAx>
        <c:axId val="-2113994440"/>
        <c:scaling>
          <c:orientation val="minMax"/>
        </c:scaling>
        <c:delete val="0"/>
        <c:axPos val="l"/>
        <c:majorGridlines>
          <c:spPr>
            <a:ln>
              <a:solidFill>
                <a:srgbClr val="E6E0EC"/>
              </a:solidFill>
            </a:ln>
          </c:spPr>
        </c:majorGridlines>
        <c:numFmt formatCode="General" sourceLinked="1"/>
        <c:majorTickMark val="out"/>
        <c:minorTickMark val="none"/>
        <c:tickLblPos val="nextTo"/>
        <c:spPr>
          <a:ln>
            <a:noFill/>
          </a:ln>
        </c:spPr>
        <c:crossAx val="-2068027336"/>
        <c:crosses val="autoZero"/>
        <c:crossBetween val="between"/>
      </c:valAx>
    </c:plotArea>
    <c:plotVisOnly val="1"/>
    <c:dispBlanksAs val="gap"/>
    <c:showDLblsOverMax val="1"/>
  </c:chart>
  <c:txPr>
    <a:bodyPr/>
    <a:lstStyle/>
    <a:p>
      <a:pPr>
        <a:defRPr sz="900">
          <a:solidFill>
            <a:srgbClr val="6E6579"/>
          </a:solidFill>
          <a:latin typeface="Segoe U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1"/>
  <c:style val="2"/>
  <c:chart>
    <c:title>
      <c:overlay val="0"/>
    </c:title>
    <c:autoTitleDeleted val="0"/>
    <c:plotArea>
      <c:layout/>
      <c:barChart>
        <c:barDir val="col"/>
        <c:grouping val="clustered"/>
        <c:varyColors val="1"/>
        <c:ser>
          <c:idx val="0"/>
          <c:order val="0"/>
          <c:tx>
            <c:strRef>
              <c:f>Sheet1!$B$1</c:f>
              <c:strCache>
                <c:ptCount val="1"/>
                <c:pt idx="0">
                  <c:v>النسبة التراكمية للمشاهدات %</c:v>
                </c:pt>
              </c:strCache>
            </c:strRef>
          </c:tx>
          <c:spPr>
            <a:solidFill>
              <a:srgbClr val="5B1E8C"/>
            </a:solidFill>
          </c:spPr>
          <c:invertIfNegative val="1"/>
          <c:dPt>
            <c:idx val="0"/>
            <c:invertIfNegative val="1"/>
            <c:bubble3D val="0"/>
            <c:spPr>
              <a:solidFill>
                <a:srgbClr val="D6006E"/>
              </a:solidFill>
            </c:spPr>
            <c:extLst>
              <c:ext xmlns:c16="http://schemas.microsoft.com/office/drawing/2014/chart" uri="{C3380CC4-5D6E-409C-BE32-E72D297353CC}">
                <c16:uniqueId val="{00000001-35C6-41FC-B4EC-A3A8A8CD9D0A}"/>
              </c:ext>
            </c:extLst>
          </c:dPt>
          <c:dLbls>
            <c:spPr>
              <a:noFill/>
              <a:ln>
                <a:noFill/>
              </a:ln>
              <a:effectLst/>
            </c:spPr>
            <c:txPr>
              <a:bodyPr/>
              <a:lstStyle/>
              <a:p>
                <a:pPr>
                  <a:defRPr sz="1000" b="1">
                    <a:solidFill>
                      <a:srgbClr val="1B1526"/>
                    </a:solidFill>
                  </a:defRPr>
                </a:pPr>
                <a:endParaRPr lang="ar-S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أعلى 1%
(80 عنواناً)</c:v>
                </c:pt>
                <c:pt idx="1">
                  <c:v>أعلى 5%
(400)</c:v>
                </c:pt>
                <c:pt idx="2">
                  <c:v>أعلى 10%
(801)</c:v>
                </c:pt>
                <c:pt idx="3">
                  <c:v>أعلى 20%
(1,602)</c:v>
                </c:pt>
                <c:pt idx="4">
                  <c:v>أعلى 22%
(1,762)</c:v>
                </c:pt>
              </c:strCache>
            </c:strRef>
          </c:cat>
          <c:val>
            <c:numRef>
              <c:f>Sheet1!$B$2:$B$6</c:f>
              <c:numCache>
                <c:formatCode>General</c:formatCode>
                <c:ptCount val="5"/>
                <c:pt idx="0">
                  <c:v>28.7</c:v>
                </c:pt>
                <c:pt idx="1">
                  <c:v>51.8</c:v>
                </c:pt>
                <c:pt idx="2">
                  <c:v>64.5</c:v>
                </c:pt>
                <c:pt idx="3">
                  <c:v>78.099999999999994</c:v>
                </c:pt>
                <c:pt idx="4">
                  <c:v>80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35C6-41FC-B4EC-A3A8A8CD9D0A}"/>
            </c:ext>
          </c:extLst>
        </c:ser>
        <c:dLbls>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E6E0EC"/>
            </a:solidFill>
          </a:ln>
        </c:spPr>
        <c:crossAx val="-2113994440"/>
        <c:crosses val="autoZero"/>
        <c:auto val="1"/>
        <c:lblAlgn val="ctr"/>
        <c:lblOffset val="100"/>
        <c:noMultiLvlLbl val="0"/>
      </c:catAx>
      <c:valAx>
        <c:axId val="-2113994440"/>
        <c:scaling>
          <c:orientation val="minMax"/>
        </c:scaling>
        <c:delete val="0"/>
        <c:axPos val="l"/>
        <c:majorGridlines>
          <c:spPr>
            <a:ln>
              <a:solidFill>
                <a:srgbClr val="E6E0EC"/>
              </a:solidFill>
            </a:ln>
          </c:spPr>
        </c:majorGridlines>
        <c:numFmt formatCode="General" sourceLinked="1"/>
        <c:majorTickMark val="out"/>
        <c:minorTickMark val="none"/>
        <c:tickLblPos val="nextTo"/>
        <c:spPr>
          <a:ln>
            <a:noFill/>
          </a:ln>
        </c:spPr>
        <c:crossAx val="-2068027336"/>
        <c:crosses val="autoZero"/>
        <c:crossBetween val="between"/>
      </c:valAx>
    </c:plotArea>
    <c:plotVisOnly val="1"/>
    <c:dispBlanksAs val="gap"/>
    <c:showDLblsOverMax val="1"/>
  </c:chart>
  <c:txPr>
    <a:bodyPr/>
    <a:lstStyle/>
    <a:p>
      <a:pPr>
        <a:defRPr sz="900">
          <a:solidFill>
            <a:srgbClr val="6E6579"/>
          </a:solidFill>
          <a:latin typeface="Segoe U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1"/>
  <c:style val="2"/>
  <c:chart>
    <c:title>
      <c:overlay val="0"/>
    </c:title>
    <c:autoTitleDeleted val="0"/>
    <c:plotArea>
      <c:layout/>
      <c:barChart>
        <c:barDir val="bar"/>
        <c:grouping val="clustered"/>
        <c:varyColors val="1"/>
        <c:ser>
          <c:idx val="0"/>
          <c:order val="0"/>
          <c:tx>
            <c:strRef>
              <c:f>Sheet1!$B$1</c:f>
              <c:strCache>
                <c:ptCount val="1"/>
                <c:pt idx="0">
                  <c:v>المعامل المعياري</c:v>
                </c:pt>
              </c:strCache>
            </c:strRef>
          </c:tx>
          <c:spPr>
            <a:solidFill>
              <a:srgbClr val="D6006E"/>
            </a:solidFill>
          </c:spPr>
          <c:invertIfNegative val="1"/>
          <c:dPt>
            <c:idx val="3"/>
            <c:invertIfNegative val="1"/>
            <c:bubble3D val="0"/>
            <c:spPr>
              <a:solidFill>
                <a:srgbClr val="0B7A5B"/>
              </a:solidFill>
            </c:spPr>
            <c:extLst>
              <c:ext xmlns:c16="http://schemas.microsoft.com/office/drawing/2014/chart" uri="{C3380CC4-5D6E-409C-BE32-E72D297353CC}">
                <c16:uniqueId val="{00000001-096E-4E75-B438-5D4A0DBFDDE0}"/>
              </c:ext>
            </c:extLst>
          </c:dPt>
          <c:dPt>
            <c:idx val="4"/>
            <c:invertIfNegative val="1"/>
            <c:bubble3D val="0"/>
            <c:spPr>
              <a:solidFill>
                <a:srgbClr val="0B7A5B"/>
              </a:solidFill>
            </c:spPr>
            <c:extLst>
              <c:ext xmlns:c16="http://schemas.microsoft.com/office/drawing/2014/chart" uri="{C3380CC4-5D6E-409C-BE32-E72D297353CC}">
                <c16:uniqueId val="{00000003-096E-4E75-B438-5D4A0DBFDDE0}"/>
              </c:ext>
            </c:extLst>
          </c:dPt>
          <c:dPt>
            <c:idx val="5"/>
            <c:invertIfNegative val="1"/>
            <c:bubble3D val="0"/>
            <c:spPr>
              <a:solidFill>
                <a:srgbClr val="0B7A5B"/>
              </a:solidFill>
            </c:spPr>
            <c:extLst>
              <c:ext xmlns:c16="http://schemas.microsoft.com/office/drawing/2014/chart" uri="{C3380CC4-5D6E-409C-BE32-E72D297353CC}">
                <c16:uniqueId val="{00000005-096E-4E75-B438-5D4A0DBFDDE0}"/>
              </c:ext>
            </c:extLst>
          </c:dPt>
          <c:dLbls>
            <c:spPr>
              <a:noFill/>
              <a:ln>
                <a:noFill/>
              </a:ln>
              <a:effectLst/>
            </c:spPr>
            <c:txPr>
              <a:bodyPr/>
              <a:lstStyle/>
              <a:p>
                <a:pPr>
                  <a:defRPr sz="900">
                    <a:solidFill>
                      <a:srgbClr val="453C52"/>
                    </a:solidFill>
                  </a:defRPr>
                </a:pPr>
                <a:endParaRPr lang="ar-S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أيام منذ آخر زيارة</c:v>
                </c:pt>
                <c:pt idx="1">
                  <c:v>عدد العناوين المشاهدة</c:v>
                </c:pt>
                <c:pt idx="2">
                  <c:v>متوسط دقائق الجلسة</c:v>
                </c:pt>
                <c:pt idx="3">
                  <c:v>التصنيفات المستكشفة</c:v>
                </c:pt>
                <c:pt idx="4">
                  <c:v>إجمالي المشاهدات</c:v>
                </c:pt>
                <c:pt idx="5">
                  <c:v>الأيام النشطة</c:v>
                </c:pt>
              </c:strCache>
            </c:strRef>
          </c:cat>
          <c:val>
            <c:numRef>
              <c:f>Sheet1!$B$2:$B$7</c:f>
              <c:numCache>
                <c:formatCode>General</c:formatCode>
                <c:ptCount val="6"/>
                <c:pt idx="0">
                  <c:v>1.4970000000000001</c:v>
                </c:pt>
                <c:pt idx="1">
                  <c:v>0.41899999999999998</c:v>
                </c:pt>
                <c:pt idx="2">
                  <c:v>0.184</c:v>
                </c:pt>
                <c:pt idx="3">
                  <c:v>-0.26</c:v>
                </c:pt>
                <c:pt idx="4">
                  <c:v>-0.224</c:v>
                </c:pt>
                <c:pt idx="5">
                  <c:v>-0.69099999999999995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096E-4E75-B438-5D4A0DBFDDE0}"/>
            </c:ext>
          </c:extLst>
        </c:ser>
        <c:dLbls>
          <c:showLegendKey val="0"/>
          <c:showVal val="1"/>
          <c:showCatName val="0"/>
          <c:showSerName val="0"/>
          <c:showPercent val="0"/>
          <c:showBubbleSize val="0"/>
        </c:dLbls>
        <c:gapWidth val="55"/>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E6E0EC"/>
            </a:solidFill>
          </a:ln>
        </c:spPr>
        <c:crossAx val="-2113994440"/>
        <c:crosses val="autoZero"/>
        <c:auto val="1"/>
        <c:lblAlgn val="ctr"/>
        <c:lblOffset val="100"/>
        <c:noMultiLvlLbl val="0"/>
      </c:catAx>
      <c:valAx>
        <c:axId val="-2113994440"/>
        <c:scaling>
          <c:orientation val="minMax"/>
        </c:scaling>
        <c:delete val="0"/>
        <c:axPos val="b"/>
        <c:majorGridlines>
          <c:spPr>
            <a:ln>
              <a:solidFill>
                <a:srgbClr val="E6E0EC"/>
              </a:solidFill>
            </a:ln>
          </c:spPr>
        </c:majorGridlines>
        <c:numFmt formatCode="General" sourceLinked="1"/>
        <c:majorTickMark val="out"/>
        <c:minorTickMark val="none"/>
        <c:tickLblPos val="nextTo"/>
        <c:spPr>
          <a:ln>
            <a:noFill/>
          </a:ln>
        </c:spPr>
        <c:crossAx val="-2068027336"/>
        <c:crosses val="autoZero"/>
        <c:crossBetween val="between"/>
      </c:valAx>
    </c:plotArea>
    <c:plotVisOnly val="1"/>
    <c:dispBlanksAs val="gap"/>
    <c:showDLblsOverMax val="1"/>
  </c:chart>
  <c:txPr>
    <a:bodyPr/>
    <a:lstStyle/>
    <a:p>
      <a:pPr>
        <a:defRPr sz="900">
          <a:solidFill>
            <a:srgbClr val="6E6579"/>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ar-SA"/>
          </a:p>
        </p:txBody>
      </p:sp>
      <p:sp>
        <p:nvSpPr>
          <p:cNvPr id="3" name="عنصر نائب للتاريخ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05AF8F5A-D0A8-4845-9392-B3A0F570BF92}" type="datetimeFigureOut">
              <a:t>10/03/1448</a:t>
            </a:fld>
            <a:endParaRPr lang="ar-SA"/>
          </a:p>
        </p:txBody>
      </p:sp>
      <p:sp>
        <p:nvSpPr>
          <p:cNvPr id="4" name="عنصر نائب لصورة الشريحة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ar-SA"/>
          </a:p>
        </p:txBody>
      </p:sp>
      <p:sp>
        <p:nvSpPr>
          <p:cNvPr id="5" name="عنصر نائب للملاحظات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6" name="عنصر نائب للتذييل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ar-SA"/>
          </a:p>
        </p:txBody>
      </p:sp>
      <p:sp>
        <p:nvSpPr>
          <p:cNvPr id="7" name="عنصر نائب لرقم الشريحة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E062A7AF-B980-4CA5-A171-44013B4B7B8E}" type="slidenum">
              <a:t>‹#›</a:t>
            </a:fld>
            <a:endParaRPr lang="ar-SA"/>
          </a:p>
        </p:txBody>
      </p:sp>
    </p:spTree>
    <p:extLst>
      <p:ext uri="{BB962C8B-B14F-4D97-AF65-F5344CB8AC3E}">
        <p14:creationId xmlns:p14="http://schemas.microsoft.com/office/powerpoint/2010/main" val="19353970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sz="1200">
                <a:latin typeface="Segoe UI"/>
              </a:rPr>
              <a:t>ابدأ بالتراجع، فهو الرقم الوحيد القادر على شراء انتباه القاعة. ثم أعد التأطير سريعاً: هذه ليست مشكلة محتوى. لدينا 11,324 أصلاً و9,616 حلقة - العرض ليس القيد. القيد أن المنتج الذي يحتفظ بالمستخدمين (المسلسلات: 52.83 ساعة لكل مستخدم، ومعدل هجر 18.07%) غير مرئي لثلثي القاعدة الذين لا يلمسون سوى الأفلام (7.47 ساعة لكل مستخدم، ومعدل هجر 38.13%). كل شريحة تالية تُقدّر جزءاً من هذا الجدار وتُسعّر علاجه. ثبّت الأطروحة في جملة واحدة قبل الانتقال: نملك محرّك الاحتفاظ بالفعل، لكننا لا نوجّه المستخدمين إليه.</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sz="1200">
                <a:latin typeface="Segoe UI"/>
              </a:rPr>
              <a:t>امنح هذه الشريحة أربعين ثانية، ولا تتجاوز صندوق الحدود - فهو ما يمنع متخذ قرار كبير من رفض بقية العرض. قل بوضوح: لا نملك تدفّق أحداث للواجهة، ولذلك لا ندّعي معرفة الزر الذي يعجز الناس عن إيجاده. ما نملكه هو الهجر على مستوى الجلسة، ومدى الوصول إلى المكتبة، والتحوّل بين نوعَي المحتوى، وهذه المؤشرات الثلاثة تُثلّث الاحتكاك نفسه بثقة كافية للتحرّك. وإن سُئلت عن ساعات الذروة، فالجواب الأمين أن الحقل date_ لا يحمل مكوّناً زمنياً؛ نستطيع إثبات يوم السبت، ولا نستطيع إثبات التاسعة مساءً. اعرض التجهيز القياسي كمطلب في المرحلة الأولى بدل اختلاق الرقم.</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sz="1200">
                <a:latin typeface="Segoe UI"/>
              </a:rPr>
              <a:t>هذه هي النواة التحليلية للعرض. مشاهد الأفلام يساوي 7.5 ساعة، ومشاهد المسلسلات يساوي 52.8 - أي سبعة أضعاف. ووسيط جلسة الفيلم 1.3 دقيقة، وهذا ليس مشاهدة بل استطلاع. استخدم Friends كدليل يترك أثراً: 718 شخصاً ولّدوا 12,841 ساعة، أي أكثر من مجموع مكتبتَي السِّير والوثائقيات معاً. ثم اجعل التحرّك الاستراتيجي صريحاً - نحن لا نطلب عناوين إضافية، بل تحويل مستطلعي الأفلام إلى مشاهدي حلقات. وفي الموسمية التزم الانضباط: السبت والجمعة قابلان للإثبات من T2 ويتوافقان مع نهاية الأسبوع السعودية في تلك الفترة، أما ساعة اليوم فغير موجودة في البيانات ولن نزعمها.</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sz="1200">
                <a:latin typeface="Segoe UI"/>
              </a:rPr>
              <a:t>كن شفافاً بأن هذا قمع مبني على مؤشرات بديلة، ثم بيّن لماذا يبقى حاسماً. ثلاثة قياسات مستقلة تتفق: مكتبة يستحوذ فيها 80 عنواناً على 28.7% من الطلب، ومكتبة يكاد خُمسها يكون غير مرئي وظيفياً، ومعدل هجر 27.4% يرتفع إلى 38.1% على واجهة الأفلام. هذه بصمات طبقة اكتشاف تعرض الرفّ نفسه على الجميع. أما نتيجة HD فهي الأحدّ وتستحق التمهّل: 4,850 مستخدماً في هذه الشريحة بمتوسط جلسة 4.5 دقيقة ومعدل هجر 47.9%. هؤلاء لا يشاهدون، بل يفتحون التطبيق ويمرّرون ويجرّبون العنوان المروَّج ثم يغادرون. هذا إخفاق اكتشاف بثمن قابل للقياس، ويمثّل 41.9% من قاعدة مستخدمينا.</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sz="1200">
                <a:latin typeface="Segoe UI"/>
              </a:rPr>
              <a:t>رسالة النموذج قابلة للتنفيذ بدرجة لافتة: التسرّب يقوده الغياب لا عدم الرضا. فمعامل الانقطاع يفوق كل متغيّرات المحتوى في النموذج، وأقوى عاملَي حماية - الأيام النشطة وعدد التصنيفات المستكشفة - كلاهما تحت سيطرة تصميم المنتج مباشرة. وهذا يحوّل رقم تسرّب مجرّد إلى مُوجز عمل محدّد: قلّص الفجوة بين الزيارات، ووسّع عدد التصنيفات التي يلمسها المستخدم مبكراً. ونبّه إلى تفاوت الشرائح قبل مغادرة الشريحة - 930 مستخدماً منخفض الخطر يحتفظون بـ131,223 ساعة، أي أكثر مما يعرّضه 7,803 مستخدم حرج للخطر. الدفاع عن النواة يوازي إنقاذ الذيل قيمةً، وبكلفة أقل بكثير.</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sz="1200">
                <a:latin typeface="Segoe UI"/>
              </a:rPr>
              <a:t>كل توصية تعود إلى رقم معروض بالفعل، فاعرضها بوصفها نتائج لا آراء. اثنتان منها تستحقّان وقتاً إضافياً. التوصية الثالثة مبنيّة ومُقيَّمة فعلاً على بيانات محجوبة - الترشيح التعاوني القائم على العناصر يحقّق 3.21 ضعف دقة خط الشعبية، ويعيد بصورة صحيحة Trolls وSurf's Up وThe Mermaid Princess لمشاهدي Moana دون أن يُخبَر يوماً بمعنى التصنيف. والتوصية الثانية هي التحفّظ الأمين على الثالثة: الترشيح التعاوني شبه عديم الجدوى للمستخدم الجديد، إذ يسجّل 0.079 مقابل خط شعبية عند 0.086 لمن لديهم من ثلاثة إلى خمسة عناوين. تلك هي مشكلة البداية الباردة، ومُنتقي تفضيلات لا يتجاوز ثلاثين ثانية عند التسجيل هو أرخص علاج معروف لها. أطلقهما معاً، وإلا جاء الإطلاق دون المستوى لنصف القاعدة.</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sz="1200">
                <a:latin typeface="Segoe UI"/>
              </a:rPr>
              <a:t>اختم على انضباط الترتيب. المكاسب السريعة الأربع لا تحتاج بنية تحتية جديدة ويمكن إطلاقها داخل ربع سنة، وهذا ما يجعل استثمار المرحلة الثانية قابلاً للدفاع عنه حين يُطرح للتمويل. واجعل مطلب التجهيز القياسي صريحاً وبلا تحرّج: أعلى بنود هذه الخارطة رافعةً ليس ميزة، بل تدفّق الأحداث الذي لا نجمعه اليوم. كل استنتاج تجربة مستخدم في هذا العرض أُعيد بناؤه من سجلات المشاهدة لأنه لا توجد بيانات نقر. عالِج ذلك في المرحلة الأولى، وستتوقّف نماذج المرحلة الثالثة عن كونها استنتاجات لتصبح قياسات. أنهِ العرض على جدول المؤشرات، وسمِّ المسؤول عن كل سطر قبل مغادرة القاعة.</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chart" Target="../charts/chart3.xml"/></Relationships>
</file>

<file path=ppt/slides/_rels/slide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1526"/>
        </a:solidFill>
        <a:effectLst/>
      </p:bgPr>
    </p:bg>
    <p:spTree>
      <p:nvGrpSpPr>
        <p:cNvPr id="1" name=""/>
        <p:cNvGrpSpPr/>
        <p:nvPr/>
      </p:nvGrpSpPr>
      <p:grpSpPr>
        <a:xfrm>
          <a:off x="0" y="0"/>
          <a:ext cx="0" cy="0"/>
          <a:chOff x="0" y="0"/>
          <a:chExt cx="0" cy="0"/>
        </a:xfrm>
      </p:grpSpPr>
      <p:sp>
        <p:nvSpPr>
          <p:cNvPr id="2" name="TextBox 1"/>
          <p:cNvSpPr txBox="1"/>
          <p:nvPr/>
        </p:nvSpPr>
        <p:spPr>
          <a:xfrm>
            <a:off x="731520" y="822960"/>
            <a:ext cx="10728655" cy="256032"/>
          </a:xfrm>
          <a:prstGeom prst="rect">
            <a:avLst/>
          </a:prstGeom>
          <a:noFill/>
        </p:spPr>
        <p:txBody>
          <a:bodyPr wrap="square" lIns="0" tIns="0" rIns="0" bIns="0">
            <a:spAutoFit/>
          </a:bodyPr>
          <a:lstStyle/>
          <a:p>
            <a:pPr algn="r" rtl="1">
              <a:spcAft>
                <a:spcPts val="0"/>
              </a:spcAft>
            </a:pPr>
            <a:r>
              <a:rPr sz="1050" b="1">
                <a:solidFill>
                  <a:srgbClr val="C79BEA"/>
                </a:solidFill>
                <a:latin typeface="Consolas"/>
              </a:rPr>
              <a:t>stc tv  ·  سرد البيانات واستراتيجية تجربة المستخدم  ·  T1 · T2 · T3</a:t>
            </a:r>
          </a:p>
        </p:txBody>
      </p:sp>
      <p:sp>
        <p:nvSpPr>
          <p:cNvPr id="3" name="TextBox 2"/>
          <p:cNvSpPr txBox="1"/>
          <p:nvPr/>
        </p:nvSpPr>
        <p:spPr>
          <a:xfrm>
            <a:off x="243058" y="1146517"/>
            <a:ext cx="7071055" cy="1737360"/>
          </a:xfrm>
          <a:prstGeom prst="rect">
            <a:avLst/>
          </a:prstGeom>
          <a:noFill/>
        </p:spPr>
        <p:txBody>
          <a:bodyPr wrap="square" lIns="0" tIns="0" rIns="0" bIns="0">
            <a:spAutoFit/>
          </a:bodyPr>
          <a:lstStyle/>
          <a:p>
            <a:pPr algn="r" rtl="1">
              <a:lnSpc>
                <a:spcPct val="105000"/>
              </a:lnSpc>
              <a:spcAft>
                <a:spcPts val="0"/>
              </a:spcAft>
            </a:pPr>
            <a:r>
              <a:rPr sz="4400" b="1">
                <a:solidFill>
                  <a:srgbClr val="FFFFFF"/>
                </a:solidFill>
                <a:latin typeface="Segoe UI"/>
              </a:rPr>
              <a:t>محرّك الاحتفاظ</a:t>
            </a:r>
            <a:br/>
            <a:r>
              <a:rPr sz="4400" b="1">
                <a:solidFill>
                  <a:srgbClr val="FFFFFF"/>
                </a:solidFill>
                <a:latin typeface="Segoe UI"/>
              </a:rPr>
              <a:t>الذي نملكه بالفعل</a:t>
            </a:r>
          </a:p>
        </p:txBody>
      </p:sp>
      <p:sp>
        <p:nvSpPr>
          <p:cNvPr id="4" name="TextBox 3"/>
          <p:cNvSpPr txBox="1"/>
          <p:nvPr/>
        </p:nvSpPr>
        <p:spPr>
          <a:xfrm>
            <a:off x="731520" y="3200400"/>
            <a:ext cx="6796735" cy="1188720"/>
          </a:xfrm>
          <a:prstGeom prst="rect">
            <a:avLst/>
          </a:prstGeom>
          <a:noFill/>
        </p:spPr>
        <p:txBody>
          <a:bodyPr wrap="square" lIns="0" tIns="0" rIns="0" bIns="0">
            <a:spAutoFit/>
          </a:bodyPr>
          <a:lstStyle/>
          <a:p>
            <a:pPr algn="r" rtl="1">
              <a:lnSpc>
                <a:spcPct val="140000"/>
              </a:lnSpc>
              <a:spcAft>
                <a:spcPts val="0"/>
              </a:spcAft>
            </a:pPr>
            <a:r>
              <a:rPr sz="1500" b="0">
                <a:solidFill>
                  <a:srgbClr val="C4BBD0"/>
                </a:solidFill>
                <a:latin typeface="Segoe UI"/>
              </a:rPr>
              <a:t>تراجع وقت المشاهدة 38.5% سنوياً. والسبب ليس نقص المحتوى، بل أنّ المنتج الذي يحتفظ بالمستخدمين غير مرئي لثلثَي قاعدة المستخدمين.</a:t>
            </a:r>
          </a:p>
        </p:txBody>
      </p:sp>
      <p:sp>
        <p:nvSpPr>
          <p:cNvPr id="5" name="Rounded Rectangle 4"/>
          <p:cNvSpPr/>
          <p:nvPr/>
        </p:nvSpPr>
        <p:spPr>
          <a:xfrm>
            <a:off x="731520" y="4663440"/>
            <a:ext cx="1737360" cy="914400"/>
          </a:xfrm>
          <a:prstGeom prst="roundRect">
            <a:avLst>
              <a:gd name="adj" fmla="val 5000"/>
            </a:avLst>
          </a:prstGeom>
          <a:solidFill>
            <a:srgbClr val="2A1D3A"/>
          </a:solidFill>
          <a:ln w="12700">
            <a:solidFill>
              <a:srgbClr val="3D3349"/>
            </a:solidFill>
          </a:ln>
          <a:effectLst/>
        </p:spPr>
        <p:style>
          <a:lnRef idx="1">
            <a:schemeClr val="accent1"/>
          </a:lnRef>
          <a:fillRef idx="3">
            <a:schemeClr val="accent1"/>
          </a:fillRef>
          <a:effectRef idx="2">
            <a:schemeClr val="accent1"/>
          </a:effectRef>
          <a:fontRef idx="minor">
            <a:schemeClr val="lt1"/>
          </a:fontRef>
        </p:style>
        <p:txBody>
          <a:bodyPr wrap="square" lIns="109728" tIns="91440" rIns="109728" rtlCol="0" anchor="ctr"/>
          <a:lstStyle/>
          <a:p>
            <a:pPr algn="r" rtl="1">
              <a:spcAft>
                <a:spcPts val="100"/>
              </a:spcAft>
            </a:pPr>
            <a:r>
              <a:rPr sz="1900" b="1">
                <a:solidFill>
                  <a:srgbClr val="C79BEA"/>
                </a:solidFill>
                <a:latin typeface="Consolas"/>
              </a:rPr>
              <a:t>290,861</a:t>
            </a:r>
          </a:p>
          <a:p>
            <a:pPr algn="r" rtl="1">
              <a:spcAft>
                <a:spcPts val="0"/>
              </a:spcAft>
            </a:pPr>
            <a:r>
              <a:rPr sz="950" b="0">
                <a:solidFill>
                  <a:srgbClr val="948BA0"/>
                </a:solidFill>
                <a:latin typeface="Segoe UI"/>
              </a:rPr>
              <a:t>إجمالي ساعات المشاهدة</a:t>
            </a:r>
          </a:p>
        </p:txBody>
      </p:sp>
      <p:sp>
        <p:nvSpPr>
          <p:cNvPr id="6" name="Rounded Rectangle 5"/>
          <p:cNvSpPr/>
          <p:nvPr/>
        </p:nvSpPr>
        <p:spPr>
          <a:xfrm>
            <a:off x="2606039" y="4663440"/>
            <a:ext cx="1737360" cy="914400"/>
          </a:xfrm>
          <a:prstGeom prst="roundRect">
            <a:avLst>
              <a:gd name="adj" fmla="val 5000"/>
            </a:avLst>
          </a:prstGeom>
          <a:solidFill>
            <a:srgbClr val="2A1D3A"/>
          </a:solidFill>
          <a:ln w="12700">
            <a:solidFill>
              <a:srgbClr val="3D3349"/>
            </a:solidFill>
          </a:ln>
          <a:effectLst/>
        </p:spPr>
        <p:style>
          <a:lnRef idx="1">
            <a:schemeClr val="accent1"/>
          </a:lnRef>
          <a:fillRef idx="3">
            <a:schemeClr val="accent1"/>
          </a:fillRef>
          <a:effectRef idx="2">
            <a:schemeClr val="accent1"/>
          </a:effectRef>
          <a:fontRef idx="minor">
            <a:schemeClr val="lt1"/>
          </a:fontRef>
        </p:style>
        <p:txBody>
          <a:bodyPr wrap="square" lIns="109728" tIns="91440" rIns="109728" rtlCol="0" anchor="ctr"/>
          <a:lstStyle/>
          <a:p>
            <a:pPr algn="r" rtl="1">
              <a:spcAft>
                <a:spcPts val="100"/>
              </a:spcAft>
            </a:pPr>
            <a:r>
              <a:rPr sz="1900" b="1">
                <a:solidFill>
                  <a:srgbClr val="C79BEA"/>
                </a:solidFill>
                <a:latin typeface="Consolas"/>
              </a:rPr>
              <a:t>11,578</a:t>
            </a:r>
          </a:p>
          <a:p>
            <a:pPr algn="r" rtl="1">
              <a:spcAft>
                <a:spcPts val="0"/>
              </a:spcAft>
            </a:pPr>
            <a:r>
              <a:rPr sz="950" b="0">
                <a:solidFill>
                  <a:srgbClr val="948BA0"/>
                </a:solidFill>
                <a:latin typeface="Segoe UI"/>
              </a:rPr>
              <a:t>عدد المستخدمين</a:t>
            </a:r>
          </a:p>
        </p:txBody>
      </p:sp>
      <p:sp>
        <p:nvSpPr>
          <p:cNvPr id="7" name="Rounded Rectangle 6"/>
          <p:cNvSpPr/>
          <p:nvPr/>
        </p:nvSpPr>
        <p:spPr>
          <a:xfrm>
            <a:off x="4480558" y="4663440"/>
            <a:ext cx="1737360" cy="914400"/>
          </a:xfrm>
          <a:prstGeom prst="roundRect">
            <a:avLst>
              <a:gd name="adj" fmla="val 5000"/>
            </a:avLst>
          </a:prstGeom>
          <a:solidFill>
            <a:srgbClr val="2A1D3A"/>
          </a:solidFill>
          <a:ln w="12700">
            <a:solidFill>
              <a:srgbClr val="3D3349"/>
            </a:solidFill>
          </a:ln>
          <a:effectLst/>
        </p:spPr>
        <p:style>
          <a:lnRef idx="1">
            <a:schemeClr val="accent1"/>
          </a:lnRef>
          <a:fillRef idx="3">
            <a:schemeClr val="accent1"/>
          </a:fillRef>
          <a:effectRef idx="2">
            <a:schemeClr val="accent1"/>
          </a:effectRef>
          <a:fontRef idx="minor">
            <a:schemeClr val="lt1"/>
          </a:fontRef>
        </p:style>
        <p:txBody>
          <a:bodyPr wrap="square" lIns="109728" tIns="91440" rIns="109728" rtlCol="0" anchor="ctr"/>
          <a:lstStyle/>
          <a:p>
            <a:pPr algn="r" rtl="1">
              <a:spcAft>
                <a:spcPts val="100"/>
              </a:spcAft>
            </a:pPr>
            <a:r>
              <a:rPr sz="1900" b="1">
                <a:solidFill>
                  <a:srgbClr val="D6006E"/>
                </a:solidFill>
                <a:latin typeface="Consolas"/>
              </a:rPr>
              <a:t>-38.5%</a:t>
            </a:r>
          </a:p>
          <a:p>
            <a:pPr algn="r" rtl="1">
              <a:spcAft>
                <a:spcPts val="0"/>
              </a:spcAft>
            </a:pPr>
            <a:r>
              <a:rPr sz="950" b="0">
                <a:solidFill>
                  <a:srgbClr val="948BA0"/>
                </a:solidFill>
                <a:latin typeface="Segoe UI"/>
              </a:rPr>
              <a:t>تراجع الساعات سنوياً</a:t>
            </a:r>
          </a:p>
        </p:txBody>
      </p:sp>
      <p:sp>
        <p:nvSpPr>
          <p:cNvPr id="8" name="Rounded Rectangle 7"/>
          <p:cNvSpPr/>
          <p:nvPr/>
        </p:nvSpPr>
        <p:spPr>
          <a:xfrm>
            <a:off x="6355077" y="4663440"/>
            <a:ext cx="1737360" cy="914400"/>
          </a:xfrm>
          <a:prstGeom prst="roundRect">
            <a:avLst>
              <a:gd name="adj" fmla="val 5000"/>
            </a:avLst>
          </a:prstGeom>
          <a:solidFill>
            <a:srgbClr val="2A1D3A"/>
          </a:solidFill>
          <a:ln w="12700">
            <a:solidFill>
              <a:srgbClr val="3D3349"/>
            </a:solidFill>
          </a:ln>
          <a:effectLst/>
        </p:spPr>
        <p:style>
          <a:lnRef idx="1">
            <a:schemeClr val="accent1"/>
          </a:lnRef>
          <a:fillRef idx="3">
            <a:schemeClr val="accent1"/>
          </a:fillRef>
          <a:effectRef idx="2">
            <a:schemeClr val="accent1"/>
          </a:effectRef>
          <a:fontRef idx="minor">
            <a:schemeClr val="lt1"/>
          </a:fontRef>
        </p:style>
        <p:txBody>
          <a:bodyPr wrap="square" lIns="109728" tIns="91440" rIns="109728" rtlCol="0" anchor="ctr"/>
          <a:lstStyle/>
          <a:p>
            <a:pPr algn="r" rtl="1">
              <a:spcAft>
                <a:spcPts val="100"/>
              </a:spcAft>
            </a:pPr>
            <a:r>
              <a:rPr sz="1900" b="1">
                <a:solidFill>
                  <a:srgbClr val="D6006E"/>
                </a:solidFill>
                <a:latin typeface="Consolas"/>
              </a:rPr>
              <a:t>33.7%</a:t>
            </a:r>
          </a:p>
          <a:p>
            <a:pPr algn="r" rtl="1">
              <a:spcAft>
                <a:spcPts val="0"/>
              </a:spcAft>
            </a:pPr>
            <a:r>
              <a:rPr sz="950" b="0">
                <a:solidFill>
                  <a:srgbClr val="948BA0"/>
                </a:solidFill>
                <a:latin typeface="Segoe UI"/>
              </a:rPr>
              <a:t>من بدأ مسلسلاً ولو مرة</a:t>
            </a:r>
          </a:p>
        </p:txBody>
      </p:sp>
      <p:graphicFrame>
        <p:nvGraphicFramePr>
          <p:cNvPr id="9" name="Chart 8"/>
          <p:cNvGraphicFramePr>
            <a:graphicFrameLocks noGrp="1"/>
          </p:cNvGraphicFramePr>
          <p:nvPr/>
        </p:nvGraphicFramePr>
        <p:xfrm>
          <a:off x="7436815" y="1371600"/>
          <a:ext cx="402336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p:cNvSpPr txBox="1"/>
          <p:nvPr/>
        </p:nvSpPr>
        <p:spPr>
          <a:xfrm>
            <a:off x="7436815" y="4434840"/>
            <a:ext cx="4023360" cy="365760"/>
          </a:xfrm>
          <a:prstGeom prst="rect">
            <a:avLst/>
          </a:prstGeom>
          <a:noFill/>
        </p:spPr>
        <p:txBody>
          <a:bodyPr wrap="square" lIns="0" tIns="0" rIns="0" bIns="0">
            <a:spAutoFit/>
          </a:bodyPr>
          <a:lstStyle/>
          <a:p>
            <a:pPr algn="r" rtl="1">
              <a:spcAft>
                <a:spcPts val="0"/>
              </a:spcAft>
            </a:pPr>
            <a:r>
              <a:rPr sz="900" b="0">
                <a:solidFill>
                  <a:srgbClr val="948BA0"/>
                </a:solidFill>
                <a:latin typeface="Consolas"/>
              </a:rPr>
              <a:t>ساعات المشاهدة الشهرية، مارس 2017 - أبريل 2018  (T1)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11167567" y="420624"/>
            <a:ext cx="384048" cy="384048"/>
          </a:xfrm>
          <a:prstGeom prst="roundRect">
            <a:avLst>
              <a:gd name="adj" fmla="val 5000"/>
            </a:avLst>
          </a:prstGeom>
          <a:solidFill>
            <a:srgbClr val="5B1E8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spcAft>
                <a:spcPts val="0"/>
              </a:spcAft>
            </a:pPr>
            <a:r>
              <a:rPr sz="1300" b="1">
                <a:solidFill>
                  <a:srgbClr val="FFFFFF"/>
                </a:solidFill>
                <a:latin typeface="Consolas"/>
              </a:rPr>
              <a:t>2</a:t>
            </a:r>
          </a:p>
        </p:txBody>
      </p:sp>
      <p:sp>
        <p:nvSpPr>
          <p:cNvPr id="3" name="TextBox 2"/>
          <p:cNvSpPr txBox="1"/>
          <p:nvPr/>
        </p:nvSpPr>
        <p:spPr>
          <a:xfrm>
            <a:off x="640080" y="402336"/>
            <a:ext cx="10454335" cy="502920"/>
          </a:xfrm>
          <a:prstGeom prst="rect">
            <a:avLst/>
          </a:prstGeom>
          <a:noFill/>
        </p:spPr>
        <p:txBody>
          <a:bodyPr wrap="square" lIns="0" tIns="0" rIns="0" bIns="0">
            <a:spAutoFit/>
          </a:bodyPr>
          <a:lstStyle/>
          <a:p>
            <a:pPr algn="r" rtl="1">
              <a:spcAft>
                <a:spcPts val="0"/>
              </a:spcAft>
            </a:pPr>
            <a:r>
              <a:rPr sz="2600" b="1">
                <a:solidFill>
                  <a:srgbClr val="1B1526"/>
                </a:solidFill>
                <a:latin typeface="Segoe UI"/>
              </a:rPr>
              <a:t>المنهجية: ثلاث مجموعات بيانات، قصة مستخدم واحدة</a:t>
            </a:r>
          </a:p>
        </p:txBody>
      </p:sp>
      <p:sp>
        <p:nvSpPr>
          <p:cNvPr id="4" name="Rounded Rectangle 3"/>
          <p:cNvSpPr/>
          <p:nvPr/>
        </p:nvSpPr>
        <p:spPr>
          <a:xfrm>
            <a:off x="640080" y="969264"/>
            <a:ext cx="10911535" cy="12700"/>
          </a:xfrm>
          <a:prstGeom prst="roundRect">
            <a:avLst>
              <a:gd name="adj" fmla="val 5000"/>
            </a:avLst>
          </a:prstGeom>
          <a:solidFill>
            <a:srgbClr val="E6E0E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endParaRPr/>
          </a:p>
        </p:txBody>
      </p:sp>
      <p:sp>
        <p:nvSpPr>
          <p:cNvPr id="5" name="Rounded Rectangle 4"/>
          <p:cNvSpPr/>
          <p:nvPr/>
        </p:nvSpPr>
        <p:spPr>
          <a:xfrm>
            <a:off x="8367542" y="2439572"/>
            <a:ext cx="2651760" cy="2514600"/>
          </a:xfrm>
          <a:prstGeom prst="roundRect">
            <a:avLst>
              <a:gd name="adj" fmla="val 5000"/>
            </a:avLst>
          </a:prstGeom>
          <a:solidFill>
            <a:srgbClr val="FFFFFF"/>
          </a:solidFill>
          <a:ln w="12700">
            <a:solidFill>
              <a:srgbClr val="E6E0EC"/>
            </a:solidFill>
          </a:ln>
          <a:effectLst/>
        </p:spPr>
        <p:style>
          <a:lnRef idx="1">
            <a:schemeClr val="accent1"/>
          </a:lnRef>
          <a:fillRef idx="3">
            <a:schemeClr val="accent1"/>
          </a:fillRef>
          <a:effectRef idx="2">
            <a:schemeClr val="accent1"/>
          </a:effectRef>
          <a:fontRef idx="minor">
            <a:schemeClr val="lt1"/>
          </a:fontRef>
        </p:style>
        <p:txBody>
          <a:bodyPr wrap="square" lIns="146304" tIns="128016" rIns="146304" rtlCol="0" anchor="ctr"/>
          <a:lstStyle/>
          <a:p>
            <a:pPr algn="r" rtl="1">
              <a:spcAft>
                <a:spcPts val="200"/>
              </a:spcAft>
            </a:pPr>
            <a:r>
              <a:rPr sz="1500" b="1">
                <a:solidFill>
                  <a:srgbClr val="5B1E8C"/>
                </a:solidFill>
                <a:latin typeface="Consolas"/>
              </a:rPr>
              <a:t>T1</a:t>
            </a:r>
          </a:p>
          <a:p>
            <a:pPr algn="r" rtl="1">
              <a:spcAft>
                <a:spcPts val="800"/>
              </a:spcAft>
            </a:pPr>
            <a:r>
              <a:rPr sz="1150" b="1">
                <a:solidFill>
                  <a:srgbClr val="1B1526"/>
                </a:solidFill>
                <a:latin typeface="Segoe UI"/>
              </a:rPr>
              <a:t>الاستهلاك والتقسيم</a:t>
            </a:r>
          </a:p>
          <a:p>
            <a:pPr algn="r" rtl="1">
              <a:spcAft>
                <a:spcPts val="400"/>
              </a:spcAft>
            </a:pPr>
            <a:r>
              <a:rPr sz="1100" b="0">
                <a:solidFill>
                  <a:srgbClr val="453C52"/>
                </a:solidFill>
                <a:latin typeface="Segoe UI"/>
              </a:rPr>
              <a:t>1,048,575 حدث مشاهدة •</a:t>
            </a:r>
          </a:p>
          <a:p>
            <a:pPr algn="r" rtl="1">
              <a:spcAft>
                <a:spcPts val="400"/>
              </a:spcAft>
            </a:pPr>
            <a:r>
              <a:rPr sz="1100" b="0">
                <a:solidFill>
                  <a:srgbClr val="453C52"/>
                </a:solidFill>
                <a:latin typeface="Segoe UI"/>
              </a:rPr>
              <a:t>11,578 مستخدماً · 413 يوماً •</a:t>
            </a:r>
          </a:p>
          <a:p>
            <a:pPr algn="r" rtl="1">
              <a:spcAft>
                <a:spcPts val="400"/>
              </a:spcAft>
            </a:pPr>
            <a:r>
              <a:rPr sz="1100" b="0">
                <a:solidFill>
                  <a:srgbClr val="453C52"/>
                </a:solidFill>
                <a:latin typeface="Segoe UI"/>
              </a:rPr>
              <a:t>التصنيف والجودة وعمق الجلسة •</a:t>
            </a:r>
          </a:p>
          <a:p>
            <a:pPr algn="r" rtl="1">
              <a:spcAft>
                <a:spcPts val="400"/>
              </a:spcAft>
            </a:pPr>
            <a:r>
              <a:rPr sz="1100" b="0">
                <a:solidFill>
                  <a:srgbClr val="453C52"/>
                </a:solidFill>
                <a:latin typeface="Segoe UI"/>
              </a:rPr>
              <a:t>27 جدول مخرجات مشتق •</a:t>
            </a:r>
          </a:p>
        </p:txBody>
      </p:sp>
      <p:sp>
        <p:nvSpPr>
          <p:cNvPr id="6" name="Rounded Rectangle 5"/>
          <p:cNvSpPr/>
          <p:nvPr/>
        </p:nvSpPr>
        <p:spPr>
          <a:xfrm>
            <a:off x="4536440" y="2439572"/>
            <a:ext cx="2651760" cy="2514600"/>
          </a:xfrm>
          <a:prstGeom prst="roundRect">
            <a:avLst>
              <a:gd name="adj" fmla="val 5000"/>
            </a:avLst>
          </a:prstGeom>
          <a:solidFill>
            <a:srgbClr val="FFFFFF"/>
          </a:solidFill>
          <a:ln w="12700">
            <a:solidFill>
              <a:srgbClr val="E6E0EC"/>
            </a:solidFill>
          </a:ln>
          <a:effectLst/>
        </p:spPr>
        <p:style>
          <a:lnRef idx="1">
            <a:schemeClr val="accent1"/>
          </a:lnRef>
          <a:fillRef idx="3">
            <a:schemeClr val="accent1"/>
          </a:fillRef>
          <a:effectRef idx="2">
            <a:schemeClr val="accent1"/>
          </a:effectRef>
          <a:fontRef idx="minor">
            <a:schemeClr val="lt1"/>
          </a:fontRef>
        </p:style>
        <p:txBody>
          <a:bodyPr wrap="square" lIns="146304" tIns="128016" rIns="146304" rtlCol="0" anchor="ctr"/>
          <a:lstStyle/>
          <a:p>
            <a:pPr algn="r" rtl="1">
              <a:spcAft>
                <a:spcPts val="200"/>
              </a:spcAft>
            </a:pPr>
            <a:r>
              <a:rPr sz="1500" b="1">
                <a:solidFill>
                  <a:srgbClr val="5B1E8C"/>
                </a:solidFill>
                <a:latin typeface="Consolas"/>
              </a:rPr>
              <a:t>T2</a:t>
            </a:r>
          </a:p>
          <a:p>
            <a:pPr algn="r" rtl="1">
              <a:spcAft>
                <a:spcPts val="800"/>
              </a:spcAft>
            </a:pPr>
            <a:r>
              <a:rPr sz="1150" b="1">
                <a:solidFill>
                  <a:srgbClr val="1B1526"/>
                </a:solidFill>
                <a:latin typeface="Segoe UI"/>
              </a:rPr>
              <a:t>موسمية الطلب</a:t>
            </a:r>
          </a:p>
          <a:p>
            <a:pPr algn="r" rtl="1">
              <a:spcAft>
                <a:spcPts val="400"/>
              </a:spcAft>
            </a:pPr>
            <a:r>
              <a:rPr sz="1100" b="0">
                <a:solidFill>
                  <a:srgbClr val="453C52"/>
                </a:solidFill>
                <a:latin typeface="Segoe UI"/>
              </a:rPr>
              <a:t>411 مشاهدة يومية •</a:t>
            </a:r>
          </a:p>
          <a:p>
            <a:pPr algn="r" rtl="1">
              <a:spcAft>
                <a:spcPts val="400"/>
              </a:spcAft>
            </a:pPr>
            <a:r>
              <a:rPr sz="1100" b="0">
                <a:solidFill>
                  <a:srgbClr val="453C52"/>
                </a:solidFill>
                <a:latin typeface="Segoe UI"/>
              </a:rPr>
              <a:t>ذروات أيام الأسبوع •</a:t>
            </a:r>
          </a:p>
          <a:p>
            <a:pPr algn="r" rtl="1">
              <a:spcAft>
                <a:spcPts val="400"/>
              </a:spcAft>
            </a:pPr>
            <a:r>
              <a:rPr sz="1100" b="0">
                <a:solidFill>
                  <a:srgbClr val="453C52"/>
                </a:solidFill>
                <a:latin typeface="Segoe UI"/>
              </a:rPr>
              <a:t>تنبؤ 60 يوماً •</a:t>
            </a:r>
          </a:p>
          <a:p>
            <a:pPr algn="r" rtl="1">
              <a:spcAft>
                <a:spcPts val="400"/>
              </a:spcAft>
            </a:pPr>
            <a:r>
              <a:rPr sz="1100" b="0">
                <a:solidFill>
                  <a:srgbClr val="453C52"/>
                </a:solidFill>
                <a:latin typeface="Segoe UI"/>
              </a:rPr>
              <a:t>153,360 مشاهدة متوقعة •</a:t>
            </a:r>
          </a:p>
        </p:txBody>
      </p:sp>
      <p:sp>
        <p:nvSpPr>
          <p:cNvPr id="7" name="Rounded Rectangle 6"/>
          <p:cNvSpPr/>
          <p:nvPr/>
        </p:nvSpPr>
        <p:spPr>
          <a:xfrm>
            <a:off x="568569" y="2439572"/>
            <a:ext cx="2651760" cy="2514600"/>
          </a:xfrm>
          <a:prstGeom prst="roundRect">
            <a:avLst>
              <a:gd name="adj" fmla="val 5000"/>
            </a:avLst>
          </a:prstGeom>
          <a:solidFill>
            <a:srgbClr val="FFFFFF"/>
          </a:solidFill>
          <a:ln w="12700">
            <a:solidFill>
              <a:srgbClr val="E6E0EC"/>
            </a:solidFill>
          </a:ln>
          <a:effectLst/>
        </p:spPr>
        <p:style>
          <a:lnRef idx="1">
            <a:schemeClr val="accent1"/>
          </a:lnRef>
          <a:fillRef idx="3">
            <a:schemeClr val="accent1"/>
          </a:fillRef>
          <a:effectRef idx="2">
            <a:schemeClr val="accent1"/>
          </a:effectRef>
          <a:fontRef idx="minor">
            <a:schemeClr val="lt1"/>
          </a:fontRef>
        </p:style>
        <p:txBody>
          <a:bodyPr wrap="square" lIns="146304" tIns="128016" rIns="146304" rtlCol="0" anchor="ctr"/>
          <a:lstStyle/>
          <a:p>
            <a:pPr algn="r" rtl="1">
              <a:spcAft>
                <a:spcPts val="200"/>
              </a:spcAft>
            </a:pPr>
            <a:r>
              <a:rPr sz="1500" b="1">
                <a:solidFill>
                  <a:srgbClr val="5B1E8C"/>
                </a:solidFill>
                <a:latin typeface="Consolas"/>
              </a:rPr>
              <a:t>T3</a:t>
            </a:r>
          </a:p>
          <a:p>
            <a:pPr algn="r" rtl="1">
              <a:spcAft>
                <a:spcPts val="800"/>
              </a:spcAft>
            </a:pPr>
            <a:r>
              <a:rPr sz="1150" b="1">
                <a:solidFill>
                  <a:srgbClr val="1B1526"/>
                </a:solidFill>
                <a:latin typeface="Segoe UI"/>
              </a:rPr>
              <a:t>محرّك التوصية</a:t>
            </a:r>
          </a:p>
          <a:p>
            <a:pPr algn="r" rtl="1">
              <a:spcAft>
                <a:spcPts val="400"/>
              </a:spcAft>
            </a:pPr>
            <a:r>
              <a:rPr sz="1100" b="0">
                <a:solidFill>
                  <a:srgbClr val="453C52"/>
                </a:solidFill>
                <a:latin typeface="Segoe UI"/>
              </a:rPr>
              <a:t>428,022 تفاعلاً •</a:t>
            </a:r>
          </a:p>
          <a:p>
            <a:pPr algn="r" rtl="1">
              <a:spcAft>
                <a:spcPts val="400"/>
              </a:spcAft>
            </a:pPr>
            <a:r>
              <a:rPr sz="1100" b="0">
                <a:solidFill>
                  <a:srgbClr val="453C52"/>
                </a:solidFill>
                <a:latin typeface="Segoe UI"/>
              </a:rPr>
              <a:t>6,700 مستخدم × 6,927 عنواناً •</a:t>
            </a:r>
          </a:p>
          <a:p>
            <a:pPr algn="r" rtl="1">
              <a:spcAft>
                <a:spcPts val="400"/>
              </a:spcAft>
            </a:pPr>
            <a:r>
              <a:rPr sz="1100" b="0">
                <a:solidFill>
                  <a:srgbClr val="453C52"/>
                </a:solidFill>
                <a:latin typeface="Segoe UI"/>
              </a:rPr>
              <a:t>تقييم على بيانات محجوبة •</a:t>
            </a:r>
          </a:p>
          <a:p>
            <a:pPr algn="r" rtl="1">
              <a:spcAft>
                <a:spcPts val="400"/>
              </a:spcAft>
            </a:pPr>
            <a:r>
              <a:rPr sz="1100" b="0">
                <a:solidFill>
                  <a:srgbClr val="453C52"/>
                </a:solidFill>
                <a:latin typeface="Segoe UI"/>
              </a:rPr>
              <a:t>دقة Precision@5 = 0.276 •</a:t>
            </a:r>
          </a:p>
        </p:txBody>
      </p:sp>
      <p:sp>
        <p:nvSpPr>
          <p:cNvPr id="9" name="TextBox 8"/>
          <p:cNvSpPr txBox="1"/>
          <p:nvPr/>
        </p:nvSpPr>
        <p:spPr>
          <a:xfrm>
            <a:off x="640080" y="6400800"/>
            <a:ext cx="10911535" cy="274320"/>
          </a:xfrm>
          <a:prstGeom prst="rect">
            <a:avLst/>
          </a:prstGeom>
          <a:noFill/>
        </p:spPr>
        <p:txBody>
          <a:bodyPr wrap="square" lIns="0" tIns="0" rIns="0" bIns="0">
            <a:spAutoFit/>
          </a:bodyPr>
          <a:lstStyle/>
          <a:p>
            <a:pPr algn="r" rtl="1">
              <a:spcAft>
                <a:spcPts val="0"/>
              </a:spcAft>
            </a:pPr>
            <a:r>
              <a:rPr sz="900" b="0">
                <a:solidFill>
                  <a:srgbClr val="6E6579"/>
                </a:solidFill>
                <a:latin typeface="Consolas"/>
              </a:rPr>
              <a:t>احتكاك التجربة مُستنتَج من ثلاثة مؤشرات سلوكية في T1: الهجر تحت 60 ثانية، وتركّز المكتبة، والتحوّل من الأفلام إلى المسلسلات.</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11167567" y="420624"/>
            <a:ext cx="384048" cy="384048"/>
          </a:xfrm>
          <a:prstGeom prst="roundRect">
            <a:avLst>
              <a:gd name="adj" fmla="val 5000"/>
            </a:avLst>
          </a:prstGeom>
          <a:solidFill>
            <a:srgbClr val="5B1E8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spcAft>
                <a:spcPts val="0"/>
              </a:spcAft>
            </a:pPr>
            <a:r>
              <a:rPr sz="1300" b="1">
                <a:solidFill>
                  <a:srgbClr val="FFFFFF"/>
                </a:solidFill>
                <a:latin typeface="Consolas"/>
              </a:rPr>
              <a:t>3</a:t>
            </a:r>
          </a:p>
        </p:txBody>
      </p:sp>
      <p:sp>
        <p:nvSpPr>
          <p:cNvPr id="3" name="TextBox 2"/>
          <p:cNvSpPr txBox="1"/>
          <p:nvPr/>
        </p:nvSpPr>
        <p:spPr>
          <a:xfrm>
            <a:off x="640080" y="402336"/>
            <a:ext cx="10454335" cy="502920"/>
          </a:xfrm>
          <a:prstGeom prst="rect">
            <a:avLst/>
          </a:prstGeom>
          <a:noFill/>
        </p:spPr>
        <p:txBody>
          <a:bodyPr wrap="square" lIns="0" tIns="0" rIns="0" bIns="0">
            <a:spAutoFit/>
          </a:bodyPr>
          <a:lstStyle/>
          <a:p>
            <a:pPr algn="r" rtl="1">
              <a:spcAft>
                <a:spcPts val="0"/>
              </a:spcAft>
            </a:pPr>
            <a:r>
              <a:rPr sz="2600" b="1">
                <a:solidFill>
                  <a:srgbClr val="1B1526"/>
                </a:solidFill>
                <a:latin typeface="Segoe UI"/>
              </a:rPr>
              <a:t>منتجان يرتديان تطبيقاً واحداً</a:t>
            </a:r>
          </a:p>
        </p:txBody>
      </p:sp>
      <p:sp>
        <p:nvSpPr>
          <p:cNvPr id="4" name="Rounded Rectangle 3"/>
          <p:cNvSpPr/>
          <p:nvPr/>
        </p:nvSpPr>
        <p:spPr>
          <a:xfrm>
            <a:off x="640080" y="969264"/>
            <a:ext cx="10911535" cy="12700"/>
          </a:xfrm>
          <a:prstGeom prst="roundRect">
            <a:avLst>
              <a:gd name="adj" fmla="val 5000"/>
            </a:avLst>
          </a:prstGeom>
          <a:solidFill>
            <a:srgbClr val="E6E0E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endParaRPr/>
          </a:p>
        </p:txBody>
      </p:sp>
      <p:graphicFrame>
        <p:nvGraphicFramePr>
          <p:cNvPr id="5" name="Chart 4"/>
          <p:cNvGraphicFramePr>
            <a:graphicFrameLocks noGrp="1"/>
          </p:cNvGraphicFramePr>
          <p:nvPr/>
        </p:nvGraphicFramePr>
        <p:xfrm>
          <a:off x="640080" y="1234440"/>
          <a:ext cx="6400800" cy="32918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p:cNvGraphicFramePr>
            <a:graphicFrameLocks noGrp="1"/>
          </p:cNvGraphicFramePr>
          <p:nvPr/>
        </p:nvGraphicFramePr>
        <p:xfrm>
          <a:off x="7315200" y="1234440"/>
          <a:ext cx="4206240" cy="228600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Box 6"/>
          <p:cNvSpPr txBox="1"/>
          <p:nvPr/>
        </p:nvSpPr>
        <p:spPr>
          <a:xfrm>
            <a:off x="7315200" y="3566160"/>
            <a:ext cx="4206240" cy="274320"/>
          </a:xfrm>
          <a:prstGeom prst="rect">
            <a:avLst/>
          </a:prstGeom>
          <a:noFill/>
        </p:spPr>
        <p:txBody>
          <a:bodyPr wrap="square" lIns="0" tIns="0" rIns="0" bIns="0">
            <a:spAutoFit/>
          </a:bodyPr>
          <a:lstStyle/>
          <a:p>
            <a:pPr algn="r" rtl="1">
              <a:spcAft>
                <a:spcPts val="0"/>
              </a:spcAft>
            </a:pPr>
            <a:r>
              <a:rPr sz="900" b="0">
                <a:solidFill>
                  <a:srgbClr val="6E6579"/>
                </a:solidFill>
                <a:latin typeface="Consolas"/>
              </a:rPr>
              <a:t>الذروة: السبت 2,975 · الجمعة 2,795  (T2، آخر 12 أسبوعاً)</a:t>
            </a:r>
          </a:p>
        </p:txBody>
      </p:sp>
      <p:sp>
        <p:nvSpPr>
          <p:cNvPr id="8" name="TextBox 7"/>
          <p:cNvSpPr txBox="1"/>
          <p:nvPr/>
        </p:nvSpPr>
        <p:spPr>
          <a:xfrm>
            <a:off x="7315200" y="3977639"/>
            <a:ext cx="4206240" cy="365760"/>
          </a:xfrm>
          <a:prstGeom prst="rect">
            <a:avLst/>
          </a:prstGeom>
          <a:noFill/>
        </p:spPr>
        <p:txBody>
          <a:bodyPr wrap="square" lIns="0" tIns="0" rIns="0" bIns="0">
            <a:spAutoFit/>
          </a:bodyPr>
          <a:lstStyle/>
          <a:p>
            <a:pPr algn="r" rtl="1">
              <a:lnSpc>
                <a:spcPct val="125000"/>
              </a:lnSpc>
              <a:spcAft>
                <a:spcPts val="700"/>
              </a:spcAft>
            </a:pPr>
            <a:r>
              <a:rPr sz="1150">
                <a:solidFill>
                  <a:srgbClr val="453C52"/>
                </a:solidFill>
                <a:latin typeface="Segoe UI"/>
              </a:rPr>
              <a:t>مشاهد المسلسل يساوي 52.8 ساعة، ومشاهد الفيلم 7.5 — سبعة أضعاف  •</a:t>
            </a:r>
          </a:p>
          <a:p>
            <a:pPr algn="r" rtl="1">
              <a:lnSpc>
                <a:spcPct val="125000"/>
              </a:lnSpc>
              <a:spcAft>
                <a:spcPts val="700"/>
              </a:spcAft>
            </a:pPr>
            <a:r>
              <a:rPr sz="1150">
                <a:solidFill>
                  <a:srgbClr val="453C52"/>
                </a:solidFill>
                <a:latin typeface="Segoe UI"/>
              </a:rPr>
              <a:t>وسيط جلسة الفيلم 1.3 دقيقة: هذا استطلاع لا مشاهدة  •</a:t>
            </a:r>
          </a:p>
          <a:p>
            <a:pPr algn="r" rtl="1">
              <a:lnSpc>
                <a:spcPct val="125000"/>
              </a:lnSpc>
              <a:spcAft>
                <a:spcPts val="700"/>
              </a:spcAft>
            </a:pPr>
            <a:r>
              <a:rPr sz="1150">
                <a:solidFill>
                  <a:srgbClr val="453C52"/>
                </a:solidFill>
                <a:latin typeface="Segoe UI"/>
              </a:rPr>
              <a:t>مسلسل Friends وحده يولّد 12,841 ساعة من 718 مشاهداً فقط  •</a:t>
            </a:r>
          </a:p>
        </p:txBody>
      </p:sp>
      <p:sp>
        <p:nvSpPr>
          <p:cNvPr id="9" name="TextBox 8"/>
          <p:cNvSpPr txBox="1"/>
          <p:nvPr/>
        </p:nvSpPr>
        <p:spPr>
          <a:xfrm>
            <a:off x="640080" y="6400800"/>
            <a:ext cx="10911535" cy="274320"/>
          </a:xfrm>
          <a:prstGeom prst="rect">
            <a:avLst/>
          </a:prstGeom>
          <a:noFill/>
        </p:spPr>
        <p:txBody>
          <a:bodyPr wrap="square" lIns="0" tIns="0" rIns="0" bIns="0">
            <a:spAutoFit/>
          </a:bodyPr>
          <a:lstStyle/>
          <a:p>
            <a:pPr algn="r" rtl="1">
              <a:spcAft>
                <a:spcPts val="0"/>
              </a:spcAft>
            </a:pPr>
            <a:r>
              <a:rPr sz="900" b="0">
                <a:solidFill>
                  <a:srgbClr val="6E6579"/>
                </a:solidFill>
                <a:latin typeface="Consolas"/>
              </a:rPr>
              <a:t>المصدر: T1 · 05_class_scorecard وtop10_series  |  T2 · موسمية أيام الأسبوع</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11167567" y="420624"/>
            <a:ext cx="384048" cy="384048"/>
          </a:xfrm>
          <a:prstGeom prst="roundRect">
            <a:avLst>
              <a:gd name="adj" fmla="val 5000"/>
            </a:avLst>
          </a:prstGeom>
          <a:solidFill>
            <a:srgbClr val="5B1E8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spcAft>
                <a:spcPts val="0"/>
              </a:spcAft>
            </a:pPr>
            <a:r>
              <a:rPr sz="1300" b="1">
                <a:solidFill>
                  <a:srgbClr val="FFFFFF"/>
                </a:solidFill>
                <a:latin typeface="Consolas"/>
              </a:rPr>
              <a:t>4</a:t>
            </a:r>
          </a:p>
        </p:txBody>
      </p:sp>
      <p:sp>
        <p:nvSpPr>
          <p:cNvPr id="3" name="TextBox 2"/>
          <p:cNvSpPr txBox="1"/>
          <p:nvPr/>
        </p:nvSpPr>
        <p:spPr>
          <a:xfrm>
            <a:off x="640080" y="402336"/>
            <a:ext cx="10454335" cy="502920"/>
          </a:xfrm>
          <a:prstGeom prst="rect">
            <a:avLst/>
          </a:prstGeom>
          <a:noFill/>
        </p:spPr>
        <p:txBody>
          <a:bodyPr wrap="square" lIns="0" tIns="0" rIns="0" bIns="0">
            <a:spAutoFit/>
          </a:bodyPr>
          <a:lstStyle/>
          <a:p>
            <a:pPr algn="r" rtl="1">
              <a:spcAft>
                <a:spcPts val="0"/>
              </a:spcAft>
            </a:pPr>
            <a:r>
              <a:rPr sz="2600" b="1">
                <a:solidFill>
                  <a:srgbClr val="1B1526"/>
                </a:solidFill>
                <a:latin typeface="Segoe UI"/>
              </a:rPr>
              <a:t>أين ينكسر الاكتشاف</a:t>
            </a:r>
          </a:p>
        </p:txBody>
      </p:sp>
      <p:sp>
        <p:nvSpPr>
          <p:cNvPr id="4" name="Rounded Rectangle 3"/>
          <p:cNvSpPr/>
          <p:nvPr/>
        </p:nvSpPr>
        <p:spPr>
          <a:xfrm>
            <a:off x="640080" y="969264"/>
            <a:ext cx="10911535" cy="12700"/>
          </a:xfrm>
          <a:prstGeom prst="roundRect">
            <a:avLst>
              <a:gd name="adj" fmla="val 5000"/>
            </a:avLst>
          </a:prstGeom>
          <a:solidFill>
            <a:srgbClr val="E6E0E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endParaRPr/>
          </a:p>
        </p:txBody>
      </p:sp>
      <p:graphicFrame>
        <p:nvGraphicFramePr>
          <p:cNvPr id="5" name="Chart 4"/>
          <p:cNvGraphicFramePr>
            <a:graphicFrameLocks noGrp="1"/>
          </p:cNvGraphicFramePr>
          <p:nvPr/>
        </p:nvGraphicFramePr>
        <p:xfrm>
          <a:off x="640080" y="1280160"/>
          <a:ext cx="603504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640080" y="4434840"/>
            <a:ext cx="6035040" cy="274320"/>
          </a:xfrm>
          <a:prstGeom prst="rect">
            <a:avLst/>
          </a:prstGeom>
          <a:noFill/>
        </p:spPr>
        <p:txBody>
          <a:bodyPr wrap="square" lIns="0" tIns="0" rIns="0" bIns="0">
            <a:spAutoFit/>
          </a:bodyPr>
          <a:lstStyle/>
          <a:p>
            <a:pPr algn="r" rtl="1">
              <a:spcAft>
                <a:spcPts val="0"/>
              </a:spcAft>
            </a:pPr>
            <a:r>
              <a:rPr sz="900" b="0">
                <a:solidFill>
                  <a:srgbClr val="6E6579"/>
                </a:solidFill>
                <a:latin typeface="Consolas"/>
              </a:rPr>
              <a:t>تركّز المكتبة — 8,013 عنواناً مرتّبة حسب المشاهدات  (T1)</a:t>
            </a:r>
          </a:p>
        </p:txBody>
      </p:sp>
      <p:sp>
        <p:nvSpPr>
          <p:cNvPr id="7" name="Rounded Rectangle 6"/>
          <p:cNvSpPr/>
          <p:nvPr/>
        </p:nvSpPr>
        <p:spPr>
          <a:xfrm>
            <a:off x="7040880" y="1280160"/>
            <a:ext cx="4480560" cy="713232"/>
          </a:xfrm>
          <a:prstGeom prst="roundRect">
            <a:avLst>
              <a:gd name="adj" fmla="val 5000"/>
            </a:avLst>
          </a:prstGeom>
          <a:solidFill>
            <a:srgbClr val="F3EFF7"/>
          </a:solidFill>
          <a:ln w="12700">
            <a:solidFill>
              <a:srgbClr val="E6E0EC"/>
            </a:solidFill>
          </a:ln>
          <a:effectLst/>
        </p:spPr>
        <p:style>
          <a:lnRef idx="1">
            <a:schemeClr val="accent1"/>
          </a:lnRef>
          <a:fillRef idx="3">
            <a:schemeClr val="accent1"/>
          </a:fillRef>
          <a:effectRef idx="2">
            <a:schemeClr val="accent1"/>
          </a:effectRef>
          <a:fontRef idx="minor">
            <a:schemeClr val="lt1"/>
          </a:fontRef>
        </p:style>
        <p:txBody>
          <a:bodyPr wrap="square" lIns="128016" tIns="109728" rIns="128016" rtlCol="0" anchor="ctr"/>
          <a:lstStyle/>
          <a:p>
            <a:pPr algn="r" rtl="1">
              <a:spcAft>
                <a:spcPts val="200"/>
              </a:spcAft>
            </a:pPr>
            <a:r>
              <a:rPr sz="2200" b="1">
                <a:solidFill>
                  <a:srgbClr val="D6006E"/>
                </a:solidFill>
                <a:latin typeface="Consolas"/>
              </a:rPr>
              <a:t>28.7%</a:t>
            </a:r>
          </a:p>
          <a:p>
            <a:pPr algn="r" rtl="1">
              <a:spcAft>
                <a:spcPts val="0"/>
              </a:spcAft>
            </a:pPr>
            <a:r>
              <a:rPr sz="1050" b="0">
                <a:solidFill>
                  <a:srgbClr val="6E6579"/>
                </a:solidFill>
                <a:latin typeface="Segoe UI"/>
              </a:rPr>
              <a:t>من المشاهدات لـ 80 عنواناً فقط</a:t>
            </a:r>
          </a:p>
        </p:txBody>
      </p:sp>
      <p:sp>
        <p:nvSpPr>
          <p:cNvPr id="8" name="Rounded Rectangle 7"/>
          <p:cNvSpPr/>
          <p:nvPr/>
        </p:nvSpPr>
        <p:spPr>
          <a:xfrm>
            <a:off x="7040880" y="2121408"/>
            <a:ext cx="4480560" cy="713232"/>
          </a:xfrm>
          <a:prstGeom prst="roundRect">
            <a:avLst>
              <a:gd name="adj" fmla="val 5000"/>
            </a:avLst>
          </a:prstGeom>
          <a:solidFill>
            <a:srgbClr val="F3EFF7"/>
          </a:solidFill>
          <a:ln w="12700">
            <a:solidFill>
              <a:srgbClr val="E6E0EC"/>
            </a:solidFill>
          </a:ln>
          <a:effectLst/>
        </p:spPr>
        <p:style>
          <a:lnRef idx="1">
            <a:schemeClr val="accent1"/>
          </a:lnRef>
          <a:fillRef idx="3">
            <a:schemeClr val="accent1"/>
          </a:fillRef>
          <a:effectRef idx="2">
            <a:schemeClr val="accent1"/>
          </a:effectRef>
          <a:fontRef idx="minor">
            <a:schemeClr val="lt1"/>
          </a:fontRef>
        </p:style>
        <p:txBody>
          <a:bodyPr wrap="square" lIns="128016" tIns="109728" rIns="128016" rtlCol="0" anchor="ctr"/>
          <a:lstStyle/>
          <a:p>
            <a:pPr algn="r" rtl="1">
              <a:spcAft>
                <a:spcPts val="200"/>
              </a:spcAft>
            </a:pPr>
            <a:r>
              <a:rPr sz="2200" b="1">
                <a:solidFill>
                  <a:srgbClr val="D6006E"/>
                </a:solidFill>
                <a:latin typeface="Consolas"/>
              </a:rPr>
              <a:t>1,496</a:t>
            </a:r>
          </a:p>
          <a:p>
            <a:pPr algn="r" rtl="1">
              <a:spcAft>
                <a:spcPts val="0"/>
              </a:spcAft>
            </a:pPr>
            <a:r>
              <a:rPr sz="1050" b="0">
                <a:solidFill>
                  <a:srgbClr val="6E6579"/>
                </a:solidFill>
                <a:latin typeface="Segoe UI"/>
              </a:rPr>
              <a:t>عنواناً حصل على أقل من 10 مشاهدات</a:t>
            </a:r>
          </a:p>
        </p:txBody>
      </p:sp>
      <p:sp>
        <p:nvSpPr>
          <p:cNvPr id="9" name="Rounded Rectangle 8"/>
          <p:cNvSpPr/>
          <p:nvPr/>
        </p:nvSpPr>
        <p:spPr>
          <a:xfrm>
            <a:off x="7040880" y="2962656"/>
            <a:ext cx="4480560" cy="713232"/>
          </a:xfrm>
          <a:prstGeom prst="roundRect">
            <a:avLst>
              <a:gd name="adj" fmla="val 5000"/>
            </a:avLst>
          </a:prstGeom>
          <a:solidFill>
            <a:srgbClr val="F3EFF7"/>
          </a:solidFill>
          <a:ln w="12700">
            <a:solidFill>
              <a:srgbClr val="E6E0EC"/>
            </a:solidFill>
          </a:ln>
          <a:effectLst/>
        </p:spPr>
        <p:style>
          <a:lnRef idx="1">
            <a:schemeClr val="accent1"/>
          </a:lnRef>
          <a:fillRef idx="3">
            <a:schemeClr val="accent1"/>
          </a:fillRef>
          <a:effectRef idx="2">
            <a:schemeClr val="accent1"/>
          </a:effectRef>
          <a:fontRef idx="minor">
            <a:schemeClr val="lt1"/>
          </a:fontRef>
        </p:style>
        <p:txBody>
          <a:bodyPr wrap="square" lIns="128016" tIns="109728" rIns="128016" rtlCol="0" anchor="ctr"/>
          <a:lstStyle/>
          <a:p>
            <a:pPr algn="r" rtl="1">
              <a:spcAft>
                <a:spcPts val="200"/>
              </a:spcAft>
            </a:pPr>
            <a:r>
              <a:rPr sz="2200" b="1">
                <a:solidFill>
                  <a:srgbClr val="D6006E"/>
                </a:solidFill>
                <a:latin typeface="Consolas"/>
              </a:rPr>
              <a:t>27.4%</a:t>
            </a:r>
          </a:p>
          <a:p>
            <a:pPr algn="r" rtl="1">
              <a:spcAft>
                <a:spcPts val="0"/>
              </a:spcAft>
            </a:pPr>
            <a:r>
              <a:rPr sz="1050" b="0">
                <a:solidFill>
                  <a:srgbClr val="6E6579"/>
                </a:solidFill>
                <a:latin typeface="Segoe UI"/>
              </a:rPr>
              <a:t>من الجلسات تنتهي خلال 60 ثانية</a:t>
            </a:r>
          </a:p>
        </p:txBody>
      </p:sp>
      <p:sp>
        <p:nvSpPr>
          <p:cNvPr id="10" name="Rounded Rectangle 9"/>
          <p:cNvSpPr/>
          <p:nvPr/>
        </p:nvSpPr>
        <p:spPr>
          <a:xfrm>
            <a:off x="7040880" y="3803904"/>
            <a:ext cx="4480560" cy="713232"/>
          </a:xfrm>
          <a:prstGeom prst="roundRect">
            <a:avLst>
              <a:gd name="adj" fmla="val 5000"/>
            </a:avLst>
          </a:prstGeom>
          <a:solidFill>
            <a:srgbClr val="F3EFF7"/>
          </a:solidFill>
          <a:ln w="12700">
            <a:solidFill>
              <a:srgbClr val="E6E0EC"/>
            </a:solidFill>
          </a:ln>
          <a:effectLst/>
        </p:spPr>
        <p:style>
          <a:lnRef idx="1">
            <a:schemeClr val="accent1"/>
          </a:lnRef>
          <a:fillRef idx="3">
            <a:schemeClr val="accent1"/>
          </a:fillRef>
          <a:effectRef idx="2">
            <a:schemeClr val="accent1"/>
          </a:effectRef>
          <a:fontRef idx="minor">
            <a:schemeClr val="lt1"/>
          </a:fontRef>
        </p:style>
        <p:txBody>
          <a:bodyPr wrap="square" lIns="128016" tIns="109728" rIns="128016" rtlCol="0" anchor="ctr"/>
          <a:lstStyle/>
          <a:p>
            <a:pPr algn="r" rtl="1">
              <a:spcAft>
                <a:spcPts val="200"/>
              </a:spcAft>
            </a:pPr>
            <a:r>
              <a:rPr sz="2200" b="1">
                <a:solidFill>
                  <a:srgbClr val="D6006E"/>
                </a:solidFill>
                <a:latin typeface="Consolas"/>
              </a:rPr>
              <a:t>1.1%</a:t>
            </a:r>
          </a:p>
          <a:p>
            <a:pPr algn="r" rtl="1">
              <a:spcAft>
                <a:spcPts val="0"/>
              </a:spcAft>
            </a:pPr>
            <a:r>
              <a:rPr sz="1050" b="0">
                <a:solidFill>
                  <a:srgbClr val="6E6579"/>
                </a:solidFill>
                <a:latin typeface="Segoe UI"/>
              </a:rPr>
              <a:t>من وقت المشاهدة من 41.9% مستخدمي HD</a:t>
            </a:r>
          </a:p>
        </p:txBody>
      </p:sp>
      <p:sp>
        <p:nvSpPr>
          <p:cNvPr id="11" name="Rounded Rectangle 10"/>
          <p:cNvSpPr/>
          <p:nvPr/>
        </p:nvSpPr>
        <p:spPr>
          <a:xfrm>
            <a:off x="7040880" y="4709160"/>
            <a:ext cx="4480560" cy="658368"/>
          </a:xfrm>
          <a:prstGeom prst="roundRect">
            <a:avLst>
              <a:gd name="adj" fmla="val 5000"/>
            </a:avLst>
          </a:prstGeom>
          <a:solidFill>
            <a:srgbClr val="F3EFF7"/>
          </a:solidFill>
          <a:ln w="12700">
            <a:solidFill>
              <a:srgbClr val="E6E0EC"/>
            </a:solidFill>
          </a:ln>
          <a:effectLst/>
        </p:spPr>
        <p:style>
          <a:lnRef idx="1">
            <a:schemeClr val="accent1"/>
          </a:lnRef>
          <a:fillRef idx="3">
            <a:schemeClr val="accent1"/>
          </a:fillRef>
          <a:effectRef idx="2">
            <a:schemeClr val="accent1"/>
          </a:effectRef>
          <a:fontRef idx="minor">
            <a:schemeClr val="lt1"/>
          </a:fontRef>
        </p:style>
        <p:txBody>
          <a:bodyPr wrap="square" lIns="128016" tIns="91440" rIns="128016" rtlCol="0" anchor="ctr"/>
          <a:lstStyle/>
          <a:p>
            <a:pPr algn="r" rtl="1">
              <a:spcAft>
                <a:spcPts val="0"/>
              </a:spcAft>
            </a:pPr>
            <a:r>
              <a:rPr sz="950" b="1">
                <a:solidFill>
                  <a:srgbClr val="A8630A"/>
                </a:solidFill>
                <a:latin typeface="Consolas"/>
              </a:rPr>
              <a:t>مُستنتَج من مؤشرات بديلة — من سجلات المشاهدة لا من أحداث الواجهة</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11167567" y="420624"/>
            <a:ext cx="384048" cy="384048"/>
          </a:xfrm>
          <a:prstGeom prst="roundRect">
            <a:avLst>
              <a:gd name="adj" fmla="val 5000"/>
            </a:avLst>
          </a:prstGeom>
          <a:solidFill>
            <a:srgbClr val="5B1E8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spcAft>
                <a:spcPts val="0"/>
              </a:spcAft>
            </a:pPr>
            <a:r>
              <a:rPr sz="1300" b="1">
                <a:solidFill>
                  <a:srgbClr val="FFFFFF"/>
                </a:solidFill>
                <a:latin typeface="Consolas"/>
              </a:rPr>
              <a:t>5</a:t>
            </a:r>
          </a:p>
        </p:txBody>
      </p:sp>
      <p:sp>
        <p:nvSpPr>
          <p:cNvPr id="3" name="TextBox 2"/>
          <p:cNvSpPr txBox="1"/>
          <p:nvPr/>
        </p:nvSpPr>
        <p:spPr>
          <a:xfrm>
            <a:off x="640080" y="402336"/>
            <a:ext cx="10454335" cy="502920"/>
          </a:xfrm>
          <a:prstGeom prst="rect">
            <a:avLst/>
          </a:prstGeom>
          <a:noFill/>
        </p:spPr>
        <p:txBody>
          <a:bodyPr wrap="square" lIns="0" tIns="0" rIns="0" bIns="0">
            <a:spAutoFit/>
          </a:bodyPr>
          <a:lstStyle/>
          <a:p>
            <a:pPr algn="r" rtl="1">
              <a:spcAft>
                <a:spcPts val="0"/>
              </a:spcAft>
            </a:pPr>
            <a:r>
              <a:rPr sz="2600" b="1">
                <a:solidFill>
                  <a:srgbClr val="1B1526"/>
                </a:solidFill>
                <a:latin typeface="Segoe UI"/>
              </a:rPr>
              <a:t>التسرّب مشكلة انقطاع لا مشكلة رضا</a:t>
            </a:r>
          </a:p>
        </p:txBody>
      </p:sp>
      <p:sp>
        <p:nvSpPr>
          <p:cNvPr id="4" name="Rounded Rectangle 3"/>
          <p:cNvSpPr/>
          <p:nvPr/>
        </p:nvSpPr>
        <p:spPr>
          <a:xfrm>
            <a:off x="640080" y="969264"/>
            <a:ext cx="10911535" cy="12700"/>
          </a:xfrm>
          <a:prstGeom prst="roundRect">
            <a:avLst>
              <a:gd name="adj" fmla="val 5000"/>
            </a:avLst>
          </a:prstGeom>
          <a:solidFill>
            <a:srgbClr val="E6E0E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endParaRPr/>
          </a:p>
        </p:txBody>
      </p:sp>
      <p:graphicFrame>
        <p:nvGraphicFramePr>
          <p:cNvPr id="5" name="Chart 4"/>
          <p:cNvGraphicFramePr>
            <a:graphicFrameLocks noGrp="1"/>
          </p:cNvGraphicFramePr>
          <p:nvPr>
            <p:extLst>
              <p:ext uri="{D42A27DB-BD31-4B8C-83A1-F6EECF244321}">
                <p14:modId xmlns:p14="http://schemas.microsoft.com/office/powerpoint/2010/main" val="2593690909"/>
              </p:ext>
            </p:extLst>
          </p:nvPr>
        </p:nvGraphicFramePr>
        <p:xfrm>
          <a:off x="483772" y="990209"/>
          <a:ext cx="576072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483772" y="4695483"/>
            <a:ext cx="5760720" cy="274320"/>
          </a:xfrm>
          <a:prstGeom prst="rect">
            <a:avLst/>
          </a:prstGeom>
          <a:noFill/>
        </p:spPr>
        <p:txBody>
          <a:bodyPr wrap="square" lIns="0" tIns="0" rIns="0" bIns="0">
            <a:spAutoFit/>
          </a:bodyPr>
          <a:lstStyle/>
          <a:p>
            <a:pPr algn="r" rtl="1">
              <a:spcAft>
                <a:spcPts val="0"/>
              </a:spcAft>
            </a:pPr>
            <a:r>
              <a:rPr sz="900" b="0">
                <a:solidFill>
                  <a:srgbClr val="6E6579"/>
                </a:solidFill>
                <a:latin typeface="Consolas"/>
              </a:rPr>
              <a:t>الماجنتا يرفع خطر التسرّب · والأخضر يحمي الاحتفاظ  (T1 · 24_churn_drivers)</a:t>
            </a:r>
          </a:p>
        </p:txBody>
      </p:sp>
      <p:graphicFrame>
        <p:nvGraphicFramePr>
          <p:cNvPr id="7" name="Table 6"/>
          <p:cNvGraphicFramePr>
            <a:graphicFrameLocks noGrp="1"/>
          </p:cNvGraphicFramePr>
          <p:nvPr/>
        </p:nvGraphicFramePr>
        <p:xfrm>
          <a:off x="6766560" y="1280160"/>
          <a:ext cx="4754880" cy="192024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384048">
                <a:tc>
                  <a:txBody>
                    <a:bodyPr/>
                    <a:lstStyle/>
                    <a:p>
                      <a:pPr algn="r" rtl="1"/>
                      <a:r>
                        <a:rPr sz="1000" b="1">
                          <a:solidFill>
                            <a:srgbClr val="6E6579"/>
                          </a:solidFill>
                          <a:latin typeface="Segoe UI"/>
                        </a:rPr>
                        <a:t>نطاق الخطر</a:t>
                      </a:r>
                    </a:p>
                  </a:txBody>
                  <a:tcPr marL="82296" marR="82296" anchor="ctr">
                    <a:solidFill>
                      <a:srgbClr val="F3EFF7"/>
                    </a:solidFill>
                  </a:tcPr>
                </a:tc>
                <a:tc>
                  <a:txBody>
                    <a:bodyPr/>
                    <a:lstStyle/>
                    <a:p>
                      <a:pPr algn="r" rtl="1"/>
                      <a:r>
                        <a:rPr sz="1000" b="1">
                          <a:solidFill>
                            <a:srgbClr val="6E6579"/>
                          </a:solidFill>
                          <a:latin typeface="Segoe UI"/>
                        </a:rPr>
                        <a:t>المستخدمون</a:t>
                      </a:r>
                    </a:p>
                  </a:txBody>
                  <a:tcPr marL="82296" marR="82296" anchor="ctr">
                    <a:solidFill>
                      <a:srgbClr val="F3EFF7"/>
                    </a:solidFill>
                  </a:tcPr>
                </a:tc>
                <a:tc>
                  <a:txBody>
                    <a:bodyPr/>
                    <a:lstStyle/>
                    <a:p>
                      <a:pPr algn="r" rtl="1"/>
                      <a:r>
                        <a:rPr sz="1000" b="1">
                          <a:solidFill>
                            <a:srgbClr val="6E6579"/>
                          </a:solidFill>
                          <a:latin typeface="Segoe UI"/>
                        </a:rPr>
                        <a:t>معدل التسرّب</a:t>
                      </a:r>
                    </a:p>
                  </a:txBody>
                  <a:tcPr marL="82296" marR="82296" anchor="ctr">
                    <a:solidFill>
                      <a:srgbClr val="F3EFF7"/>
                    </a:solidFill>
                  </a:tcPr>
                </a:tc>
                <a:tc>
                  <a:txBody>
                    <a:bodyPr/>
                    <a:lstStyle/>
                    <a:p>
                      <a:pPr algn="r" rtl="1"/>
                      <a:r>
                        <a:rPr sz="1000" b="1">
                          <a:solidFill>
                            <a:srgbClr val="6E6579"/>
                          </a:solidFill>
                          <a:latin typeface="Segoe UI"/>
                        </a:rPr>
                        <a:t>الساعات المعرّضة</a:t>
                      </a:r>
                    </a:p>
                  </a:txBody>
                  <a:tcPr marL="82296" marR="82296" anchor="ctr">
                    <a:solidFill>
                      <a:srgbClr val="F3EFF7"/>
                    </a:solidFill>
                  </a:tcPr>
                </a:tc>
                <a:extLst>
                  <a:ext uri="{0D108BD9-81ED-4DB2-BD59-A6C34878D82A}">
                    <a16:rowId xmlns:a16="http://schemas.microsoft.com/office/drawing/2014/main" val="10000"/>
                  </a:ext>
                </a:extLst>
              </a:tr>
              <a:tr h="384048">
                <a:tc>
                  <a:txBody>
                    <a:bodyPr/>
                    <a:lstStyle/>
                    <a:p>
                      <a:pPr algn="r" rtl="1"/>
                      <a:r>
                        <a:rPr sz="1100" b="0">
                          <a:solidFill>
                            <a:srgbClr val="1B1526"/>
                          </a:solidFill>
                          <a:latin typeface="Segoe UI"/>
                        </a:rPr>
                        <a:t>منخفض</a:t>
                      </a:r>
                    </a:p>
                  </a:txBody>
                  <a:tcPr marL="82296" marR="82296" anchor="ctr">
                    <a:solidFill>
                      <a:srgbClr val="FFFFFF"/>
                    </a:solidFill>
                  </a:tcPr>
                </a:tc>
                <a:tc>
                  <a:txBody>
                    <a:bodyPr/>
                    <a:lstStyle/>
                    <a:p>
                      <a:pPr algn="r" rtl="1"/>
                      <a:r>
                        <a:rPr sz="1100" b="0">
                          <a:solidFill>
                            <a:srgbClr val="1B1526"/>
                          </a:solidFill>
                          <a:latin typeface="Segoe UI"/>
                        </a:rPr>
                        <a:t>930</a:t>
                      </a:r>
                    </a:p>
                  </a:txBody>
                  <a:tcPr marL="82296" marR="82296" anchor="ctr">
                    <a:solidFill>
                      <a:srgbClr val="FFFFFF"/>
                    </a:solidFill>
                  </a:tcPr>
                </a:tc>
                <a:tc>
                  <a:txBody>
                    <a:bodyPr/>
                    <a:lstStyle/>
                    <a:p>
                      <a:pPr algn="r" rtl="1"/>
                      <a:r>
                        <a:rPr sz="1100" b="0">
                          <a:solidFill>
                            <a:srgbClr val="1B1526"/>
                          </a:solidFill>
                          <a:latin typeface="Segoe UI"/>
                        </a:rPr>
                        <a:t>8.8%</a:t>
                      </a:r>
                    </a:p>
                  </a:txBody>
                  <a:tcPr marL="82296" marR="82296" anchor="ctr">
                    <a:solidFill>
                      <a:srgbClr val="FFFFFF"/>
                    </a:solidFill>
                  </a:tcPr>
                </a:tc>
                <a:tc>
                  <a:txBody>
                    <a:bodyPr/>
                    <a:lstStyle/>
                    <a:p>
                      <a:pPr algn="r" rtl="1"/>
                      <a:r>
                        <a:rPr sz="1100" b="0">
                          <a:solidFill>
                            <a:srgbClr val="1B1526"/>
                          </a:solidFill>
                          <a:latin typeface="Segoe UI"/>
                        </a:rPr>
                        <a:t>131,223</a:t>
                      </a:r>
                    </a:p>
                  </a:txBody>
                  <a:tcPr marL="82296" marR="82296" anchor="ctr">
                    <a:solidFill>
                      <a:srgbClr val="FFFFFF"/>
                    </a:solidFill>
                  </a:tcPr>
                </a:tc>
                <a:extLst>
                  <a:ext uri="{0D108BD9-81ED-4DB2-BD59-A6C34878D82A}">
                    <a16:rowId xmlns:a16="http://schemas.microsoft.com/office/drawing/2014/main" val="10001"/>
                  </a:ext>
                </a:extLst>
              </a:tr>
              <a:tr h="384048">
                <a:tc>
                  <a:txBody>
                    <a:bodyPr/>
                    <a:lstStyle/>
                    <a:p>
                      <a:pPr algn="r" rtl="1"/>
                      <a:r>
                        <a:rPr sz="1100" b="0">
                          <a:solidFill>
                            <a:srgbClr val="1B1526"/>
                          </a:solidFill>
                          <a:latin typeface="Segoe UI"/>
                        </a:rPr>
                        <a:t>متوسط</a:t>
                      </a:r>
                    </a:p>
                  </a:txBody>
                  <a:tcPr marL="82296" marR="82296" anchor="ctr">
                    <a:solidFill>
                      <a:srgbClr val="FFFFFF"/>
                    </a:solidFill>
                  </a:tcPr>
                </a:tc>
                <a:tc>
                  <a:txBody>
                    <a:bodyPr/>
                    <a:lstStyle/>
                    <a:p>
                      <a:pPr algn="r" rtl="1"/>
                      <a:r>
                        <a:rPr sz="1100" b="0">
                          <a:solidFill>
                            <a:srgbClr val="1B1526"/>
                          </a:solidFill>
                          <a:latin typeface="Segoe UI"/>
                        </a:rPr>
                        <a:t>1,264</a:t>
                      </a:r>
                    </a:p>
                  </a:txBody>
                  <a:tcPr marL="82296" marR="82296" anchor="ctr">
                    <a:solidFill>
                      <a:srgbClr val="FFFFFF"/>
                    </a:solidFill>
                  </a:tcPr>
                </a:tc>
                <a:tc>
                  <a:txBody>
                    <a:bodyPr/>
                    <a:lstStyle/>
                    <a:p>
                      <a:pPr algn="r" rtl="1"/>
                      <a:r>
                        <a:rPr sz="1100" b="0">
                          <a:solidFill>
                            <a:srgbClr val="1B1526"/>
                          </a:solidFill>
                          <a:latin typeface="Segoe UI"/>
                        </a:rPr>
                        <a:t>44.2%</a:t>
                      </a:r>
                    </a:p>
                  </a:txBody>
                  <a:tcPr marL="82296" marR="82296" anchor="ctr">
                    <a:solidFill>
                      <a:srgbClr val="FFFFFF"/>
                    </a:solidFill>
                  </a:tcPr>
                </a:tc>
                <a:tc>
                  <a:txBody>
                    <a:bodyPr/>
                    <a:lstStyle/>
                    <a:p>
                      <a:pPr algn="r" rtl="1"/>
                      <a:r>
                        <a:rPr sz="1100" b="0">
                          <a:solidFill>
                            <a:srgbClr val="1B1526"/>
                          </a:solidFill>
                          <a:latin typeface="Segoe UI"/>
                        </a:rPr>
                        <a:t>41,413</a:t>
                      </a:r>
                    </a:p>
                  </a:txBody>
                  <a:tcPr marL="82296" marR="82296" anchor="ctr">
                    <a:solidFill>
                      <a:srgbClr val="FFFFFF"/>
                    </a:solidFill>
                  </a:tcPr>
                </a:tc>
                <a:extLst>
                  <a:ext uri="{0D108BD9-81ED-4DB2-BD59-A6C34878D82A}">
                    <a16:rowId xmlns:a16="http://schemas.microsoft.com/office/drawing/2014/main" val="10002"/>
                  </a:ext>
                </a:extLst>
              </a:tr>
              <a:tr h="384048">
                <a:tc>
                  <a:txBody>
                    <a:bodyPr/>
                    <a:lstStyle/>
                    <a:p>
                      <a:pPr algn="r" rtl="1"/>
                      <a:r>
                        <a:rPr sz="1100" b="0">
                          <a:solidFill>
                            <a:srgbClr val="1B1526"/>
                          </a:solidFill>
                          <a:latin typeface="Segoe UI"/>
                        </a:rPr>
                        <a:t>مرتفع</a:t>
                      </a:r>
                    </a:p>
                  </a:txBody>
                  <a:tcPr marL="82296" marR="82296" anchor="ctr">
                    <a:solidFill>
                      <a:srgbClr val="FFFFFF"/>
                    </a:solidFill>
                  </a:tcPr>
                </a:tc>
                <a:tc>
                  <a:txBody>
                    <a:bodyPr/>
                    <a:lstStyle/>
                    <a:p>
                      <a:pPr algn="r" rtl="1"/>
                      <a:r>
                        <a:rPr sz="1100" b="0">
                          <a:solidFill>
                            <a:srgbClr val="1B1526"/>
                          </a:solidFill>
                          <a:latin typeface="Segoe UI"/>
                        </a:rPr>
                        <a:t>1,345</a:t>
                      </a:r>
                    </a:p>
                  </a:txBody>
                  <a:tcPr marL="82296" marR="82296" anchor="ctr">
                    <a:solidFill>
                      <a:srgbClr val="FFFFFF"/>
                    </a:solidFill>
                  </a:tcPr>
                </a:tc>
                <a:tc>
                  <a:txBody>
                    <a:bodyPr/>
                    <a:lstStyle/>
                    <a:p>
                      <a:pPr algn="r" rtl="1"/>
                      <a:r>
                        <a:rPr sz="1100" b="0">
                          <a:solidFill>
                            <a:srgbClr val="1B1526"/>
                          </a:solidFill>
                          <a:latin typeface="Segoe UI"/>
                        </a:rPr>
                        <a:t>72.3%</a:t>
                      </a:r>
                    </a:p>
                  </a:txBody>
                  <a:tcPr marL="82296" marR="82296" anchor="ctr">
                    <a:solidFill>
                      <a:srgbClr val="FFFFFF"/>
                    </a:solidFill>
                  </a:tcPr>
                </a:tc>
                <a:tc>
                  <a:txBody>
                    <a:bodyPr/>
                    <a:lstStyle/>
                    <a:p>
                      <a:pPr algn="r" rtl="1"/>
                      <a:r>
                        <a:rPr sz="1100" b="0">
                          <a:solidFill>
                            <a:srgbClr val="1B1526"/>
                          </a:solidFill>
                          <a:latin typeface="Segoe UI"/>
                        </a:rPr>
                        <a:t>23,784</a:t>
                      </a:r>
                    </a:p>
                  </a:txBody>
                  <a:tcPr marL="82296" marR="82296" anchor="ctr">
                    <a:solidFill>
                      <a:srgbClr val="FFFFFF"/>
                    </a:solidFill>
                  </a:tcPr>
                </a:tc>
                <a:extLst>
                  <a:ext uri="{0D108BD9-81ED-4DB2-BD59-A6C34878D82A}">
                    <a16:rowId xmlns:a16="http://schemas.microsoft.com/office/drawing/2014/main" val="10003"/>
                  </a:ext>
                </a:extLst>
              </a:tr>
              <a:tr h="384048">
                <a:tc>
                  <a:txBody>
                    <a:bodyPr/>
                    <a:lstStyle/>
                    <a:p>
                      <a:pPr algn="r" rtl="1"/>
                      <a:r>
                        <a:rPr sz="1100" b="1">
                          <a:solidFill>
                            <a:srgbClr val="C01048"/>
                          </a:solidFill>
                          <a:latin typeface="Segoe UI"/>
                        </a:rPr>
                        <a:t>حرج</a:t>
                      </a:r>
                    </a:p>
                  </a:txBody>
                  <a:tcPr marL="82296" marR="82296" anchor="ctr">
                    <a:solidFill>
                      <a:srgbClr val="FCE6EC"/>
                    </a:solidFill>
                  </a:tcPr>
                </a:tc>
                <a:tc>
                  <a:txBody>
                    <a:bodyPr/>
                    <a:lstStyle/>
                    <a:p>
                      <a:pPr algn="r" rtl="1"/>
                      <a:r>
                        <a:rPr sz="1100" b="1">
                          <a:solidFill>
                            <a:srgbClr val="C01048"/>
                          </a:solidFill>
                          <a:latin typeface="Segoe UI"/>
                        </a:rPr>
                        <a:t>7,803</a:t>
                      </a:r>
                    </a:p>
                  </a:txBody>
                  <a:tcPr marL="82296" marR="82296" anchor="ctr">
                    <a:solidFill>
                      <a:srgbClr val="FCE6EC"/>
                    </a:solidFill>
                  </a:tcPr>
                </a:tc>
                <a:tc>
                  <a:txBody>
                    <a:bodyPr/>
                    <a:lstStyle/>
                    <a:p>
                      <a:pPr algn="r" rtl="1"/>
                      <a:r>
                        <a:rPr sz="1100" b="1">
                          <a:solidFill>
                            <a:srgbClr val="C01048"/>
                          </a:solidFill>
                          <a:latin typeface="Segoe UI"/>
                        </a:rPr>
                        <a:t>94.3%</a:t>
                      </a:r>
                    </a:p>
                  </a:txBody>
                  <a:tcPr marL="82296" marR="82296" anchor="ctr">
                    <a:solidFill>
                      <a:srgbClr val="FCE6EC"/>
                    </a:solidFill>
                  </a:tcPr>
                </a:tc>
                <a:tc>
                  <a:txBody>
                    <a:bodyPr/>
                    <a:lstStyle/>
                    <a:p>
                      <a:pPr algn="r" rtl="1"/>
                      <a:r>
                        <a:rPr sz="1100" b="1">
                          <a:solidFill>
                            <a:srgbClr val="C01048"/>
                          </a:solidFill>
                          <a:latin typeface="Segoe UI"/>
                        </a:rPr>
                        <a:t>76,708</a:t>
                      </a:r>
                    </a:p>
                  </a:txBody>
                  <a:tcPr marL="82296" marR="82296" anchor="ctr">
                    <a:solidFill>
                      <a:srgbClr val="FCE6EC"/>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6766560" y="3429000"/>
            <a:ext cx="4754880" cy="365760"/>
          </a:xfrm>
          <a:prstGeom prst="rect">
            <a:avLst/>
          </a:prstGeom>
          <a:noFill/>
        </p:spPr>
        <p:txBody>
          <a:bodyPr wrap="square" lIns="0" tIns="0" rIns="0" bIns="0">
            <a:spAutoFit/>
          </a:bodyPr>
          <a:lstStyle/>
          <a:p>
            <a:pPr algn="r" rtl="1">
              <a:lnSpc>
                <a:spcPct val="125000"/>
              </a:lnSpc>
              <a:spcAft>
                <a:spcPts val="800"/>
              </a:spcAft>
            </a:pPr>
            <a:r>
              <a:rPr sz="1150">
                <a:solidFill>
                  <a:srgbClr val="453C52"/>
                </a:solidFill>
                <a:latin typeface="Segoe UI"/>
              </a:rPr>
              <a:t>7,803 مستخدماً — 67.4% من القاعدة — بمعدل تسرّب 94.3%  •</a:t>
            </a:r>
          </a:p>
          <a:p>
            <a:pPr algn="r" rtl="1">
              <a:lnSpc>
                <a:spcPct val="125000"/>
              </a:lnSpc>
              <a:spcAft>
                <a:spcPts val="800"/>
              </a:spcAft>
            </a:pPr>
            <a:r>
              <a:rPr sz="1150">
                <a:solidFill>
                  <a:srgbClr val="453C52"/>
                </a:solidFill>
                <a:latin typeface="Segoe UI"/>
              </a:rPr>
              <a:t>أيام الانقطاع تفوق كل متغيّرات المحتوى في النموذج  •</a:t>
            </a:r>
          </a:p>
          <a:p>
            <a:pPr algn="r" rtl="1">
              <a:lnSpc>
                <a:spcPct val="125000"/>
              </a:lnSpc>
              <a:spcAft>
                <a:spcPts val="800"/>
              </a:spcAft>
            </a:pPr>
            <a:r>
              <a:rPr sz="1150">
                <a:solidFill>
                  <a:srgbClr val="453C52"/>
                </a:solidFill>
                <a:latin typeface="Segoe UI"/>
              </a:rPr>
              <a:t>اتساع التصنيفات يحمي: المستخدم الخفيف 2.3 تصنيف، والقوي 8.9  •</a:t>
            </a:r>
          </a:p>
          <a:p>
            <a:pPr algn="r" rtl="1">
              <a:lnSpc>
                <a:spcPct val="125000"/>
              </a:lnSpc>
              <a:spcAft>
                <a:spcPts val="800"/>
              </a:spcAft>
            </a:pPr>
            <a:r>
              <a:rPr sz="1150">
                <a:solidFill>
                  <a:srgbClr val="453C52"/>
                </a:solidFill>
                <a:latin typeface="Segoe UI"/>
              </a:rPr>
              <a:t>930 مستخدماً منخفض الخطر يحتفظون بـ131,223 ساعة — أكثر مما يعرّضه النطاق الحرج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11167567" y="420624"/>
            <a:ext cx="384048" cy="384048"/>
          </a:xfrm>
          <a:prstGeom prst="roundRect">
            <a:avLst>
              <a:gd name="adj" fmla="val 5000"/>
            </a:avLst>
          </a:prstGeom>
          <a:solidFill>
            <a:srgbClr val="5B1E8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spcAft>
                <a:spcPts val="0"/>
              </a:spcAft>
            </a:pPr>
            <a:r>
              <a:rPr sz="1300" b="1">
                <a:solidFill>
                  <a:srgbClr val="FFFFFF"/>
                </a:solidFill>
                <a:latin typeface="Consolas"/>
              </a:rPr>
              <a:t>6</a:t>
            </a:r>
          </a:p>
        </p:txBody>
      </p:sp>
      <p:sp>
        <p:nvSpPr>
          <p:cNvPr id="3" name="TextBox 2"/>
          <p:cNvSpPr txBox="1"/>
          <p:nvPr/>
        </p:nvSpPr>
        <p:spPr>
          <a:xfrm>
            <a:off x="640080" y="402336"/>
            <a:ext cx="10454335" cy="502920"/>
          </a:xfrm>
          <a:prstGeom prst="rect">
            <a:avLst/>
          </a:prstGeom>
          <a:noFill/>
        </p:spPr>
        <p:txBody>
          <a:bodyPr wrap="square" lIns="0" tIns="0" rIns="0" bIns="0">
            <a:spAutoFit/>
          </a:bodyPr>
          <a:lstStyle/>
          <a:p>
            <a:pPr algn="r" rtl="1">
              <a:spcAft>
                <a:spcPts val="0"/>
              </a:spcAft>
            </a:pPr>
            <a:r>
              <a:rPr sz="2600" b="1">
                <a:solidFill>
                  <a:srgbClr val="1B1526"/>
                </a:solidFill>
                <a:latin typeface="Segoe UI"/>
              </a:rPr>
              <a:t>سبع خطوات مرتّبة بالأدلة</a:t>
            </a:r>
          </a:p>
        </p:txBody>
      </p:sp>
      <p:sp>
        <p:nvSpPr>
          <p:cNvPr id="4" name="Rounded Rectangle 3"/>
          <p:cNvSpPr/>
          <p:nvPr/>
        </p:nvSpPr>
        <p:spPr>
          <a:xfrm>
            <a:off x="640080" y="969264"/>
            <a:ext cx="10911535" cy="12700"/>
          </a:xfrm>
          <a:prstGeom prst="roundRect">
            <a:avLst>
              <a:gd name="adj" fmla="val 5000"/>
            </a:avLst>
          </a:prstGeom>
          <a:solidFill>
            <a:srgbClr val="E6E0E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endParaRPr/>
          </a:p>
        </p:txBody>
      </p:sp>
      <p:graphicFrame>
        <p:nvGraphicFramePr>
          <p:cNvPr id="5" name="Table 4"/>
          <p:cNvGraphicFramePr>
            <a:graphicFrameLocks noGrp="1"/>
          </p:cNvGraphicFramePr>
          <p:nvPr/>
        </p:nvGraphicFramePr>
        <p:xfrm>
          <a:off x="640080" y="1234440"/>
          <a:ext cx="10881360" cy="4206240"/>
        </p:xfrm>
        <a:graphic>
          <a:graphicData uri="http://schemas.openxmlformats.org/drawingml/2006/table">
            <a:tbl>
              <a:tblPr firstRow="1" bandRow="1">
                <a:tableStyleId>{5C22544A-7EE6-4342-B048-85BDC9FD1C3A}</a:tableStyleId>
              </a:tblPr>
              <a:tblGrid>
                <a:gridCol w="41148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525780">
                <a:tc>
                  <a:txBody>
                    <a:bodyPr/>
                    <a:lstStyle/>
                    <a:p>
                      <a:pPr algn="r" rtl="1"/>
                      <a:r>
                        <a:rPr sz="1000" b="1">
                          <a:solidFill>
                            <a:srgbClr val="6E6579"/>
                          </a:solidFill>
                          <a:latin typeface="Segoe UI"/>
                        </a:rPr>
                        <a:t>#</a:t>
                      </a:r>
                    </a:p>
                  </a:txBody>
                  <a:tcPr marL="82296" marR="82296" anchor="ctr">
                    <a:solidFill>
                      <a:srgbClr val="F3EFF7"/>
                    </a:solidFill>
                  </a:tcPr>
                </a:tc>
                <a:tc>
                  <a:txBody>
                    <a:bodyPr/>
                    <a:lstStyle/>
                    <a:p>
                      <a:pPr algn="r" rtl="1"/>
                      <a:r>
                        <a:rPr sz="1000" b="1">
                          <a:solidFill>
                            <a:srgbClr val="6E6579"/>
                          </a:solidFill>
                          <a:latin typeface="Segoe UI"/>
                        </a:rPr>
                        <a:t>التوصية</a:t>
                      </a:r>
                    </a:p>
                  </a:txBody>
                  <a:tcPr marL="82296" marR="82296" anchor="ctr">
                    <a:solidFill>
                      <a:srgbClr val="F3EFF7"/>
                    </a:solidFill>
                  </a:tcPr>
                </a:tc>
                <a:tc>
                  <a:txBody>
                    <a:bodyPr/>
                    <a:lstStyle/>
                    <a:p>
                      <a:pPr algn="r" rtl="1"/>
                      <a:r>
                        <a:rPr sz="1000" b="1">
                          <a:solidFill>
                            <a:srgbClr val="6E6579"/>
                          </a:solidFill>
                          <a:latin typeface="Segoe UI"/>
                        </a:rPr>
                        <a:t>الدليل</a:t>
                      </a:r>
                    </a:p>
                  </a:txBody>
                  <a:tcPr marL="82296" marR="82296" anchor="ctr">
                    <a:solidFill>
                      <a:srgbClr val="F3EFF7"/>
                    </a:solidFill>
                  </a:tcPr>
                </a:tc>
                <a:tc>
                  <a:txBody>
                    <a:bodyPr/>
                    <a:lstStyle/>
                    <a:p>
                      <a:pPr algn="r" rtl="1"/>
                      <a:r>
                        <a:rPr sz="1000" b="1">
                          <a:solidFill>
                            <a:srgbClr val="6E6579"/>
                          </a:solidFill>
                          <a:latin typeface="Segoe UI"/>
                        </a:rPr>
                        <a:t>الأثر</a:t>
                      </a:r>
                    </a:p>
                  </a:txBody>
                  <a:tcPr marL="82296" marR="82296" anchor="ctr">
                    <a:solidFill>
                      <a:srgbClr val="F3EFF7"/>
                    </a:solidFill>
                  </a:tcPr>
                </a:tc>
                <a:tc>
                  <a:txBody>
                    <a:bodyPr/>
                    <a:lstStyle/>
                    <a:p>
                      <a:pPr algn="r" rtl="1"/>
                      <a:r>
                        <a:rPr sz="1000" b="1">
                          <a:solidFill>
                            <a:srgbClr val="6E6579"/>
                          </a:solidFill>
                          <a:latin typeface="Segoe UI"/>
                        </a:rPr>
                        <a:t>الجهد</a:t>
                      </a:r>
                    </a:p>
                  </a:txBody>
                  <a:tcPr marL="82296" marR="82296" anchor="ctr">
                    <a:solidFill>
                      <a:srgbClr val="F3EFF7"/>
                    </a:solidFill>
                  </a:tcPr>
                </a:tc>
                <a:extLst>
                  <a:ext uri="{0D108BD9-81ED-4DB2-BD59-A6C34878D82A}">
                    <a16:rowId xmlns:a16="http://schemas.microsoft.com/office/drawing/2014/main" val="10000"/>
                  </a:ext>
                </a:extLst>
              </a:tr>
              <a:tr h="525780">
                <a:tc>
                  <a:txBody>
                    <a:bodyPr/>
                    <a:lstStyle/>
                    <a:p>
                      <a:pPr algn="ctr" rtl="1"/>
                      <a:r>
                        <a:rPr sz="1100" b="1">
                          <a:solidFill>
                            <a:srgbClr val="5B1E8C"/>
                          </a:solidFill>
                          <a:latin typeface="Consolas"/>
                        </a:rPr>
                        <a:t>1</a:t>
                      </a:r>
                    </a:p>
                  </a:txBody>
                  <a:tcPr marL="82296" marR="82296" anchor="ctr">
                    <a:solidFill>
                      <a:srgbClr val="FFFFFF"/>
                    </a:solidFill>
                  </a:tcPr>
                </a:tc>
                <a:tc>
                  <a:txBody>
                    <a:bodyPr/>
                    <a:lstStyle/>
                    <a:p>
                      <a:pPr algn="r" rtl="1"/>
                      <a:r>
                        <a:rPr sz="1100" b="1">
                          <a:solidFill>
                            <a:srgbClr val="1B1526"/>
                          </a:solidFill>
                          <a:latin typeface="Segoe UI"/>
                        </a:rPr>
                        <a:t>صف المسلسلات أولاً</a:t>
                      </a:r>
                    </a:p>
                  </a:txBody>
                  <a:tcPr marL="82296" marR="82296" anchor="ctr">
                    <a:solidFill>
                      <a:srgbClr val="FFFFFF"/>
                    </a:solidFill>
                  </a:tcPr>
                </a:tc>
                <a:tc>
                  <a:txBody>
                    <a:bodyPr/>
                    <a:lstStyle/>
                    <a:p>
                      <a:pPr algn="r" rtl="1"/>
                      <a:r>
                        <a:rPr sz="1100" b="0">
                          <a:solidFill>
                            <a:srgbClr val="1B1526"/>
                          </a:solidFill>
                          <a:latin typeface="Segoe UI"/>
                        </a:rPr>
                        <a:t>المسلسلات تحتفظ بـ7× الساعات لكل مستخدم</a:t>
                      </a:r>
                    </a:p>
                  </a:txBody>
                  <a:tcPr marL="82296" marR="82296" anchor="ctr">
                    <a:solidFill>
                      <a:srgbClr val="FFFFFF"/>
                    </a:solidFill>
                  </a:tcPr>
                </a:tc>
                <a:tc>
                  <a:txBody>
                    <a:bodyPr/>
                    <a:lstStyle/>
                    <a:p>
                      <a:pPr algn="ctr" rtl="1"/>
                      <a:r>
                        <a:rPr sz="1000" b="1">
                          <a:solidFill>
                            <a:srgbClr val="C01048"/>
                          </a:solidFill>
                          <a:latin typeface="Segoe UI"/>
                        </a:rPr>
                        <a:t>مرتفع</a:t>
                      </a:r>
                    </a:p>
                  </a:txBody>
                  <a:tcPr marL="82296" marR="82296" anchor="ctr">
                    <a:solidFill>
                      <a:srgbClr val="FCE6EC"/>
                    </a:solidFill>
                  </a:tcPr>
                </a:tc>
                <a:tc>
                  <a:txBody>
                    <a:bodyPr/>
                    <a:lstStyle/>
                    <a:p>
                      <a:pPr algn="ctr" rtl="1"/>
                      <a:r>
                        <a:rPr sz="1000" b="1">
                          <a:solidFill>
                            <a:srgbClr val="0B7A5B"/>
                          </a:solidFill>
                          <a:latin typeface="Segoe UI"/>
                        </a:rPr>
                        <a:t>منخفض</a:t>
                      </a:r>
                    </a:p>
                  </a:txBody>
                  <a:tcPr marL="82296" marR="82296" anchor="ctr">
                    <a:solidFill>
                      <a:srgbClr val="E1F3EC"/>
                    </a:solidFill>
                  </a:tcPr>
                </a:tc>
                <a:extLst>
                  <a:ext uri="{0D108BD9-81ED-4DB2-BD59-A6C34878D82A}">
                    <a16:rowId xmlns:a16="http://schemas.microsoft.com/office/drawing/2014/main" val="10001"/>
                  </a:ext>
                </a:extLst>
              </a:tr>
              <a:tr h="525780">
                <a:tc>
                  <a:txBody>
                    <a:bodyPr/>
                    <a:lstStyle/>
                    <a:p>
                      <a:pPr algn="ctr" rtl="1"/>
                      <a:r>
                        <a:rPr sz="1100" b="1">
                          <a:solidFill>
                            <a:srgbClr val="5B1E8C"/>
                          </a:solidFill>
                          <a:latin typeface="Consolas"/>
                        </a:rPr>
                        <a:t>2</a:t>
                      </a:r>
                    </a:p>
                  </a:txBody>
                  <a:tcPr marL="82296" marR="82296" anchor="ctr">
                    <a:solidFill>
                      <a:srgbClr val="FFFFFF"/>
                    </a:solidFill>
                  </a:tcPr>
                </a:tc>
                <a:tc>
                  <a:txBody>
                    <a:bodyPr/>
                    <a:lstStyle/>
                    <a:p>
                      <a:pPr algn="r" rtl="1"/>
                      <a:r>
                        <a:rPr sz="1100" b="1">
                          <a:solidFill>
                            <a:srgbClr val="1B1526"/>
                          </a:solidFill>
                          <a:latin typeface="Segoe UI"/>
                        </a:rPr>
                        <a:t>مُنتقي التفضيلات للمستخدم الجديد</a:t>
                      </a:r>
                    </a:p>
                  </a:txBody>
                  <a:tcPr marL="82296" marR="82296" anchor="ctr">
                    <a:solidFill>
                      <a:srgbClr val="FFFFFF"/>
                    </a:solidFill>
                  </a:tcPr>
                </a:tc>
                <a:tc>
                  <a:txBody>
                    <a:bodyPr/>
                    <a:lstStyle/>
                    <a:p>
                      <a:pPr algn="r" rtl="1"/>
                      <a:r>
                        <a:rPr sz="1100" b="0">
                          <a:solidFill>
                            <a:srgbClr val="1B1526"/>
                          </a:solidFill>
                          <a:latin typeface="Segoe UI"/>
                        </a:rPr>
                        <a:t>46.7% لديهم 5 عناوين أو أقل؛ الدقة تهبط إلى 0.079</a:t>
                      </a:r>
                    </a:p>
                  </a:txBody>
                  <a:tcPr marL="82296" marR="82296" anchor="ctr">
                    <a:solidFill>
                      <a:srgbClr val="FFFFFF"/>
                    </a:solidFill>
                  </a:tcPr>
                </a:tc>
                <a:tc>
                  <a:txBody>
                    <a:bodyPr/>
                    <a:lstStyle/>
                    <a:p>
                      <a:pPr algn="ctr" rtl="1"/>
                      <a:r>
                        <a:rPr sz="1000" b="1">
                          <a:solidFill>
                            <a:srgbClr val="C01048"/>
                          </a:solidFill>
                          <a:latin typeface="Segoe UI"/>
                        </a:rPr>
                        <a:t>مرتفع</a:t>
                      </a:r>
                    </a:p>
                  </a:txBody>
                  <a:tcPr marL="82296" marR="82296" anchor="ctr">
                    <a:solidFill>
                      <a:srgbClr val="FCE6EC"/>
                    </a:solidFill>
                  </a:tcPr>
                </a:tc>
                <a:tc>
                  <a:txBody>
                    <a:bodyPr/>
                    <a:lstStyle/>
                    <a:p>
                      <a:pPr algn="ctr" rtl="1"/>
                      <a:r>
                        <a:rPr sz="1000" b="1">
                          <a:solidFill>
                            <a:srgbClr val="0B7A5B"/>
                          </a:solidFill>
                          <a:latin typeface="Segoe UI"/>
                        </a:rPr>
                        <a:t>منخفض</a:t>
                      </a:r>
                    </a:p>
                  </a:txBody>
                  <a:tcPr marL="82296" marR="82296" anchor="ctr">
                    <a:solidFill>
                      <a:srgbClr val="E1F3EC"/>
                    </a:solidFill>
                  </a:tcPr>
                </a:tc>
                <a:extLst>
                  <a:ext uri="{0D108BD9-81ED-4DB2-BD59-A6C34878D82A}">
                    <a16:rowId xmlns:a16="http://schemas.microsoft.com/office/drawing/2014/main" val="10002"/>
                  </a:ext>
                </a:extLst>
              </a:tr>
              <a:tr h="525780">
                <a:tc>
                  <a:txBody>
                    <a:bodyPr/>
                    <a:lstStyle/>
                    <a:p>
                      <a:pPr algn="ctr" rtl="1"/>
                      <a:r>
                        <a:rPr sz="1100" b="1">
                          <a:solidFill>
                            <a:srgbClr val="5B1E8C"/>
                          </a:solidFill>
                          <a:latin typeface="Consolas"/>
                        </a:rPr>
                        <a:t>3</a:t>
                      </a:r>
                    </a:p>
                  </a:txBody>
                  <a:tcPr marL="82296" marR="82296" anchor="ctr">
                    <a:solidFill>
                      <a:srgbClr val="FFFFFF"/>
                    </a:solidFill>
                  </a:tcPr>
                </a:tc>
                <a:tc>
                  <a:txBody>
                    <a:bodyPr/>
                    <a:lstStyle/>
                    <a:p>
                      <a:pPr algn="r" rtl="1"/>
                      <a:r>
                        <a:rPr sz="1100" b="1">
                          <a:solidFill>
                            <a:srgbClr val="1B1526"/>
                          </a:solidFill>
                          <a:latin typeface="Segoe UI"/>
                        </a:rPr>
                        <a:t>إطلاق محرّك الترشيح التعاوني</a:t>
                      </a:r>
                    </a:p>
                  </a:txBody>
                  <a:tcPr marL="82296" marR="82296" anchor="ctr">
                    <a:solidFill>
                      <a:srgbClr val="FFFFFF"/>
                    </a:solidFill>
                  </a:tcPr>
                </a:tc>
                <a:tc>
                  <a:txBody>
                    <a:bodyPr/>
                    <a:lstStyle/>
                    <a:p>
                      <a:pPr algn="r" rtl="1"/>
                      <a:r>
                        <a:rPr sz="1100" b="0">
                          <a:solidFill>
                            <a:srgbClr val="1B1526"/>
                          </a:solidFill>
                          <a:latin typeface="Segoe UI"/>
                        </a:rPr>
                        <a:t>دقة 0.276 مقابل 0.086 للشعبية — 3.21×</a:t>
                      </a:r>
                    </a:p>
                  </a:txBody>
                  <a:tcPr marL="82296" marR="82296" anchor="ctr">
                    <a:solidFill>
                      <a:srgbClr val="FFFFFF"/>
                    </a:solidFill>
                  </a:tcPr>
                </a:tc>
                <a:tc>
                  <a:txBody>
                    <a:bodyPr/>
                    <a:lstStyle/>
                    <a:p>
                      <a:pPr algn="ctr" rtl="1"/>
                      <a:r>
                        <a:rPr sz="1000" b="1">
                          <a:solidFill>
                            <a:srgbClr val="C01048"/>
                          </a:solidFill>
                          <a:latin typeface="Segoe UI"/>
                        </a:rPr>
                        <a:t>مرتفع</a:t>
                      </a:r>
                    </a:p>
                  </a:txBody>
                  <a:tcPr marL="82296" marR="82296" anchor="ctr">
                    <a:solidFill>
                      <a:srgbClr val="FCE6EC"/>
                    </a:solidFill>
                  </a:tcPr>
                </a:tc>
                <a:tc>
                  <a:txBody>
                    <a:bodyPr/>
                    <a:lstStyle/>
                    <a:p>
                      <a:pPr algn="ctr" rtl="1"/>
                      <a:r>
                        <a:rPr sz="1000" b="1">
                          <a:solidFill>
                            <a:srgbClr val="A8630A"/>
                          </a:solidFill>
                          <a:latin typeface="Segoe UI"/>
                        </a:rPr>
                        <a:t>متوسط</a:t>
                      </a:r>
                    </a:p>
                  </a:txBody>
                  <a:tcPr marL="82296" marR="82296" anchor="ctr">
                    <a:solidFill>
                      <a:srgbClr val="FAEEDD"/>
                    </a:solidFill>
                  </a:tcPr>
                </a:tc>
                <a:extLst>
                  <a:ext uri="{0D108BD9-81ED-4DB2-BD59-A6C34878D82A}">
                    <a16:rowId xmlns:a16="http://schemas.microsoft.com/office/drawing/2014/main" val="10003"/>
                  </a:ext>
                </a:extLst>
              </a:tr>
              <a:tr h="525780">
                <a:tc>
                  <a:txBody>
                    <a:bodyPr/>
                    <a:lstStyle/>
                    <a:p>
                      <a:pPr algn="ctr" rtl="1"/>
                      <a:r>
                        <a:rPr sz="1100" b="1">
                          <a:solidFill>
                            <a:srgbClr val="5B1E8C"/>
                          </a:solidFill>
                          <a:latin typeface="Consolas"/>
                        </a:rPr>
                        <a:t>4</a:t>
                      </a:r>
                    </a:p>
                  </a:txBody>
                  <a:tcPr marL="82296" marR="82296" anchor="ctr">
                    <a:solidFill>
                      <a:srgbClr val="FFFFFF"/>
                    </a:solidFill>
                  </a:tcPr>
                </a:tc>
                <a:tc>
                  <a:txBody>
                    <a:bodyPr/>
                    <a:lstStyle/>
                    <a:p>
                      <a:pPr algn="r" rtl="1"/>
                      <a:r>
                        <a:rPr sz="1100" b="1">
                          <a:solidFill>
                            <a:srgbClr val="1B1526"/>
                          </a:solidFill>
                          <a:latin typeface="Segoe UI"/>
                        </a:rPr>
                        <a:t>حملات استعادة مُفعَّلة بالانقطاع</a:t>
                      </a:r>
                    </a:p>
                  </a:txBody>
                  <a:tcPr marL="82296" marR="82296" anchor="ctr">
                    <a:solidFill>
                      <a:srgbClr val="FFFFFF"/>
                    </a:solidFill>
                  </a:tcPr>
                </a:tc>
                <a:tc>
                  <a:txBody>
                    <a:bodyPr/>
                    <a:lstStyle/>
                    <a:p>
                      <a:pPr algn="r" rtl="1"/>
                      <a:r>
                        <a:rPr sz="1100" b="0">
                          <a:solidFill>
                            <a:srgbClr val="1B1526"/>
                          </a:solidFill>
                          <a:latin typeface="Segoe UI"/>
                        </a:rPr>
                        <a:t>الانقطاع أعلى معاملات التسرّب (+1.497)</a:t>
                      </a:r>
                    </a:p>
                  </a:txBody>
                  <a:tcPr marL="82296" marR="82296" anchor="ctr">
                    <a:solidFill>
                      <a:srgbClr val="FFFFFF"/>
                    </a:solidFill>
                  </a:tcPr>
                </a:tc>
                <a:tc>
                  <a:txBody>
                    <a:bodyPr/>
                    <a:lstStyle/>
                    <a:p>
                      <a:pPr algn="ctr" rtl="1"/>
                      <a:r>
                        <a:rPr sz="1000" b="1">
                          <a:solidFill>
                            <a:srgbClr val="C01048"/>
                          </a:solidFill>
                          <a:latin typeface="Segoe UI"/>
                        </a:rPr>
                        <a:t>مرتفع</a:t>
                      </a:r>
                    </a:p>
                  </a:txBody>
                  <a:tcPr marL="82296" marR="82296" anchor="ctr">
                    <a:solidFill>
                      <a:srgbClr val="FCE6EC"/>
                    </a:solidFill>
                  </a:tcPr>
                </a:tc>
                <a:tc>
                  <a:txBody>
                    <a:bodyPr/>
                    <a:lstStyle/>
                    <a:p>
                      <a:pPr algn="ctr" rtl="1"/>
                      <a:r>
                        <a:rPr sz="1000" b="1">
                          <a:solidFill>
                            <a:srgbClr val="0B7A5B"/>
                          </a:solidFill>
                          <a:latin typeface="Segoe UI"/>
                        </a:rPr>
                        <a:t>منخفض</a:t>
                      </a:r>
                    </a:p>
                  </a:txBody>
                  <a:tcPr marL="82296" marR="82296" anchor="ctr">
                    <a:solidFill>
                      <a:srgbClr val="E1F3EC"/>
                    </a:solidFill>
                  </a:tcPr>
                </a:tc>
                <a:extLst>
                  <a:ext uri="{0D108BD9-81ED-4DB2-BD59-A6C34878D82A}">
                    <a16:rowId xmlns:a16="http://schemas.microsoft.com/office/drawing/2014/main" val="10004"/>
                  </a:ext>
                </a:extLst>
              </a:tr>
              <a:tr h="525780">
                <a:tc>
                  <a:txBody>
                    <a:bodyPr/>
                    <a:lstStyle/>
                    <a:p>
                      <a:pPr algn="ctr" rtl="1"/>
                      <a:r>
                        <a:rPr sz="1100" b="1">
                          <a:solidFill>
                            <a:srgbClr val="5B1E8C"/>
                          </a:solidFill>
                          <a:latin typeface="Consolas"/>
                        </a:rPr>
                        <a:t>5</a:t>
                      </a:r>
                    </a:p>
                  </a:txBody>
                  <a:tcPr marL="82296" marR="82296" anchor="ctr">
                    <a:solidFill>
                      <a:srgbClr val="FFFFFF"/>
                    </a:solidFill>
                  </a:tcPr>
                </a:tc>
                <a:tc>
                  <a:txBody>
                    <a:bodyPr/>
                    <a:lstStyle/>
                    <a:p>
                      <a:pPr algn="r" rtl="1"/>
                      <a:r>
                        <a:rPr sz="1100" b="1">
                          <a:solidFill>
                            <a:srgbClr val="1B1526"/>
                          </a:solidFill>
                          <a:latin typeface="Segoe UI"/>
                        </a:rPr>
                        <a:t>إعادة بناء أول 60 ثانية</a:t>
                      </a:r>
                    </a:p>
                  </a:txBody>
                  <a:tcPr marL="82296" marR="82296" anchor="ctr">
                    <a:solidFill>
                      <a:srgbClr val="FFFFFF"/>
                    </a:solidFill>
                  </a:tcPr>
                </a:tc>
                <a:tc>
                  <a:txBody>
                    <a:bodyPr/>
                    <a:lstStyle/>
                    <a:p>
                      <a:pPr algn="r" rtl="1"/>
                      <a:r>
                        <a:rPr sz="1100" b="0">
                          <a:solidFill>
                            <a:srgbClr val="1B1526"/>
                          </a:solidFill>
                          <a:latin typeface="Segoe UI"/>
                        </a:rPr>
                        <a:t>هجر الأفلام 38.1%؛ وسيط الجلسة 1.3 دقيقة</a:t>
                      </a:r>
                    </a:p>
                  </a:txBody>
                  <a:tcPr marL="82296" marR="82296" anchor="ctr">
                    <a:solidFill>
                      <a:srgbClr val="FFFFFF"/>
                    </a:solidFill>
                  </a:tcPr>
                </a:tc>
                <a:tc>
                  <a:txBody>
                    <a:bodyPr/>
                    <a:lstStyle/>
                    <a:p>
                      <a:pPr algn="ctr" rtl="1"/>
                      <a:r>
                        <a:rPr sz="1000" b="1">
                          <a:solidFill>
                            <a:srgbClr val="C01048"/>
                          </a:solidFill>
                          <a:latin typeface="Segoe UI"/>
                        </a:rPr>
                        <a:t>مرتفع</a:t>
                      </a:r>
                    </a:p>
                  </a:txBody>
                  <a:tcPr marL="82296" marR="82296" anchor="ctr">
                    <a:solidFill>
                      <a:srgbClr val="FCE6EC"/>
                    </a:solidFill>
                  </a:tcPr>
                </a:tc>
                <a:tc>
                  <a:txBody>
                    <a:bodyPr/>
                    <a:lstStyle/>
                    <a:p>
                      <a:pPr algn="ctr" rtl="1"/>
                      <a:r>
                        <a:rPr sz="1000" b="1">
                          <a:solidFill>
                            <a:srgbClr val="A8630A"/>
                          </a:solidFill>
                          <a:latin typeface="Segoe UI"/>
                        </a:rPr>
                        <a:t>متوسط</a:t>
                      </a:r>
                    </a:p>
                  </a:txBody>
                  <a:tcPr marL="82296" marR="82296" anchor="ctr">
                    <a:solidFill>
                      <a:srgbClr val="FAEEDD"/>
                    </a:solidFill>
                  </a:tcPr>
                </a:tc>
                <a:extLst>
                  <a:ext uri="{0D108BD9-81ED-4DB2-BD59-A6C34878D82A}">
                    <a16:rowId xmlns:a16="http://schemas.microsoft.com/office/drawing/2014/main" val="10005"/>
                  </a:ext>
                </a:extLst>
              </a:tr>
              <a:tr h="525780">
                <a:tc>
                  <a:txBody>
                    <a:bodyPr/>
                    <a:lstStyle/>
                    <a:p>
                      <a:pPr algn="ctr" rtl="1"/>
                      <a:r>
                        <a:rPr sz="1100" b="1">
                          <a:solidFill>
                            <a:srgbClr val="5B1E8C"/>
                          </a:solidFill>
                          <a:latin typeface="Consolas"/>
                        </a:rPr>
                        <a:t>6</a:t>
                      </a:r>
                    </a:p>
                  </a:txBody>
                  <a:tcPr marL="82296" marR="82296" anchor="ctr">
                    <a:solidFill>
                      <a:srgbClr val="FFFFFF"/>
                    </a:solidFill>
                  </a:tcPr>
                </a:tc>
                <a:tc>
                  <a:txBody>
                    <a:bodyPr/>
                    <a:lstStyle/>
                    <a:p>
                      <a:pPr algn="r" rtl="1"/>
                      <a:r>
                        <a:rPr sz="1100" b="1">
                          <a:solidFill>
                            <a:srgbClr val="1B1526"/>
                          </a:solidFill>
                          <a:latin typeface="Segoe UI"/>
                        </a:rPr>
                        <a:t>صفوف اكتشاف الذيل الطويل</a:t>
                      </a:r>
                    </a:p>
                  </a:txBody>
                  <a:tcPr marL="82296" marR="82296" anchor="ctr">
                    <a:solidFill>
                      <a:srgbClr val="FFFFFF"/>
                    </a:solidFill>
                  </a:tcPr>
                </a:tc>
                <a:tc>
                  <a:txBody>
                    <a:bodyPr/>
                    <a:lstStyle/>
                    <a:p>
                      <a:pPr algn="r" rtl="1"/>
                      <a:r>
                        <a:rPr sz="1100" b="0">
                          <a:solidFill>
                            <a:srgbClr val="1B1526"/>
                          </a:solidFill>
                          <a:latin typeface="Segoe UI"/>
                        </a:rPr>
                        <a:t>6,251 عنواناً خارج أعلى 22%</a:t>
                      </a:r>
                    </a:p>
                  </a:txBody>
                  <a:tcPr marL="82296" marR="82296" anchor="ctr">
                    <a:solidFill>
                      <a:srgbClr val="FFFFFF"/>
                    </a:solidFill>
                  </a:tcPr>
                </a:tc>
                <a:tc>
                  <a:txBody>
                    <a:bodyPr/>
                    <a:lstStyle/>
                    <a:p>
                      <a:pPr algn="ctr" rtl="1"/>
                      <a:r>
                        <a:rPr sz="1000" b="1">
                          <a:solidFill>
                            <a:srgbClr val="A8630A"/>
                          </a:solidFill>
                          <a:latin typeface="Segoe UI"/>
                        </a:rPr>
                        <a:t>متوسط</a:t>
                      </a:r>
                    </a:p>
                  </a:txBody>
                  <a:tcPr marL="82296" marR="82296" anchor="ctr">
                    <a:solidFill>
                      <a:srgbClr val="FAEEDD"/>
                    </a:solidFill>
                  </a:tcPr>
                </a:tc>
                <a:tc>
                  <a:txBody>
                    <a:bodyPr/>
                    <a:lstStyle/>
                    <a:p>
                      <a:pPr algn="ctr" rtl="1"/>
                      <a:r>
                        <a:rPr sz="1000" b="1">
                          <a:solidFill>
                            <a:srgbClr val="A8630A"/>
                          </a:solidFill>
                          <a:latin typeface="Segoe UI"/>
                        </a:rPr>
                        <a:t>متوسط</a:t>
                      </a:r>
                    </a:p>
                  </a:txBody>
                  <a:tcPr marL="82296" marR="82296" anchor="ctr">
                    <a:solidFill>
                      <a:srgbClr val="FAEEDD"/>
                    </a:solidFill>
                  </a:tcPr>
                </a:tc>
                <a:extLst>
                  <a:ext uri="{0D108BD9-81ED-4DB2-BD59-A6C34878D82A}">
                    <a16:rowId xmlns:a16="http://schemas.microsoft.com/office/drawing/2014/main" val="10006"/>
                  </a:ext>
                </a:extLst>
              </a:tr>
              <a:tr h="525780">
                <a:tc>
                  <a:txBody>
                    <a:bodyPr/>
                    <a:lstStyle/>
                    <a:p>
                      <a:pPr algn="ctr" rtl="1"/>
                      <a:r>
                        <a:rPr sz="1100" b="1">
                          <a:solidFill>
                            <a:srgbClr val="5B1E8C"/>
                          </a:solidFill>
                          <a:latin typeface="Consolas"/>
                        </a:rPr>
                        <a:t>7</a:t>
                      </a:r>
                    </a:p>
                  </a:txBody>
                  <a:tcPr marL="82296" marR="82296" anchor="ctr">
                    <a:solidFill>
                      <a:srgbClr val="FFFFFF"/>
                    </a:solidFill>
                  </a:tcPr>
                </a:tc>
                <a:tc>
                  <a:txBody>
                    <a:bodyPr/>
                    <a:lstStyle/>
                    <a:p>
                      <a:pPr algn="r" rtl="1"/>
                      <a:r>
                        <a:rPr sz="1100" b="1">
                          <a:solidFill>
                            <a:srgbClr val="1B1526"/>
                          </a:solidFill>
                          <a:latin typeface="Segoe UI"/>
                        </a:rPr>
                        <a:t>جودة تكيّفية افتراضياً</a:t>
                      </a:r>
                    </a:p>
                  </a:txBody>
                  <a:tcPr marL="82296" marR="82296" anchor="ctr">
                    <a:solidFill>
                      <a:srgbClr val="FFFFFF"/>
                    </a:solidFill>
                  </a:tcPr>
                </a:tc>
                <a:tc>
                  <a:txBody>
                    <a:bodyPr/>
                    <a:lstStyle/>
                    <a:p>
                      <a:pPr algn="r" rtl="1"/>
                      <a:r>
                        <a:rPr sz="1100" b="0">
                          <a:solidFill>
                            <a:srgbClr val="1B1526"/>
                          </a:solidFill>
                          <a:latin typeface="Segoe UI"/>
                        </a:rPr>
                        <a:t>المسلسلات 86.9% SD؛ الافتراض HD يضلّل مسار الاحتفاظ</a:t>
                      </a:r>
                    </a:p>
                  </a:txBody>
                  <a:tcPr marL="82296" marR="82296" anchor="ctr">
                    <a:solidFill>
                      <a:srgbClr val="FFFFFF"/>
                    </a:solidFill>
                  </a:tcPr>
                </a:tc>
                <a:tc>
                  <a:txBody>
                    <a:bodyPr/>
                    <a:lstStyle/>
                    <a:p>
                      <a:pPr algn="ctr" rtl="1"/>
                      <a:r>
                        <a:rPr sz="1000" b="1">
                          <a:solidFill>
                            <a:srgbClr val="A8630A"/>
                          </a:solidFill>
                          <a:latin typeface="Segoe UI"/>
                        </a:rPr>
                        <a:t>متوسط</a:t>
                      </a:r>
                    </a:p>
                  </a:txBody>
                  <a:tcPr marL="82296" marR="82296" anchor="ctr">
                    <a:solidFill>
                      <a:srgbClr val="FAEEDD"/>
                    </a:solidFill>
                  </a:tcPr>
                </a:tc>
                <a:tc>
                  <a:txBody>
                    <a:bodyPr/>
                    <a:lstStyle/>
                    <a:p>
                      <a:pPr algn="ctr" rtl="1"/>
                      <a:r>
                        <a:rPr sz="1000" b="1">
                          <a:solidFill>
                            <a:srgbClr val="C01048"/>
                          </a:solidFill>
                          <a:latin typeface="Segoe UI"/>
                        </a:rPr>
                        <a:t>مرتفع</a:t>
                      </a:r>
                    </a:p>
                  </a:txBody>
                  <a:tcPr marL="82296" marR="82296" anchor="ctr">
                    <a:solidFill>
                      <a:srgbClr val="FCE6EC"/>
                    </a:solidFill>
                  </a:tcPr>
                </a:tc>
                <a:extLst>
                  <a:ext uri="{0D108BD9-81ED-4DB2-BD59-A6C34878D82A}">
                    <a16:rowId xmlns:a16="http://schemas.microsoft.com/office/drawing/2014/main" val="10007"/>
                  </a:ext>
                </a:extLst>
              </a:tr>
            </a:tbl>
          </a:graphicData>
        </a:graphic>
      </p:graphicFrame>
      <p:sp>
        <p:nvSpPr>
          <p:cNvPr id="6" name="TextBox 5"/>
          <p:cNvSpPr txBox="1"/>
          <p:nvPr/>
        </p:nvSpPr>
        <p:spPr>
          <a:xfrm>
            <a:off x="640080" y="6400800"/>
            <a:ext cx="10911535" cy="274320"/>
          </a:xfrm>
          <a:prstGeom prst="rect">
            <a:avLst/>
          </a:prstGeom>
          <a:noFill/>
        </p:spPr>
        <p:txBody>
          <a:bodyPr wrap="square" lIns="0" tIns="0" rIns="0" bIns="0">
            <a:spAutoFit/>
          </a:bodyPr>
          <a:lstStyle/>
          <a:p>
            <a:pPr algn="r" rtl="1">
              <a:spcAft>
                <a:spcPts val="0"/>
              </a:spcAft>
            </a:pPr>
            <a:r>
              <a:rPr sz="900" b="0">
                <a:solidFill>
                  <a:srgbClr val="6E6579"/>
                </a:solidFill>
                <a:latin typeface="Consolas"/>
              </a:rPr>
              <a:t>التوصيتان 2 و3 يجب أن تُطلقا معاً: الترشيح التعاوني شبه عديم الجدوى للمستخدم الجديد.</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11167567" y="420624"/>
            <a:ext cx="384048" cy="384048"/>
          </a:xfrm>
          <a:prstGeom prst="roundRect">
            <a:avLst>
              <a:gd name="adj" fmla="val 5000"/>
            </a:avLst>
          </a:prstGeom>
          <a:solidFill>
            <a:srgbClr val="5B1E8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spcAft>
                <a:spcPts val="0"/>
              </a:spcAft>
            </a:pPr>
            <a:r>
              <a:rPr sz="1300" b="1">
                <a:solidFill>
                  <a:srgbClr val="FFFFFF"/>
                </a:solidFill>
                <a:latin typeface="Consolas"/>
              </a:rPr>
              <a:t>7</a:t>
            </a:r>
          </a:p>
        </p:txBody>
      </p:sp>
      <p:sp>
        <p:nvSpPr>
          <p:cNvPr id="3" name="TextBox 2"/>
          <p:cNvSpPr txBox="1"/>
          <p:nvPr/>
        </p:nvSpPr>
        <p:spPr>
          <a:xfrm>
            <a:off x="640080" y="402336"/>
            <a:ext cx="10454335" cy="502920"/>
          </a:xfrm>
          <a:prstGeom prst="rect">
            <a:avLst/>
          </a:prstGeom>
          <a:noFill/>
        </p:spPr>
        <p:txBody>
          <a:bodyPr wrap="square" lIns="0" tIns="0" rIns="0" bIns="0">
            <a:spAutoFit/>
          </a:bodyPr>
          <a:lstStyle/>
          <a:p>
            <a:pPr algn="r" rtl="1">
              <a:spcAft>
                <a:spcPts val="0"/>
              </a:spcAft>
            </a:pPr>
            <a:r>
              <a:rPr sz="2600" b="1">
                <a:solidFill>
                  <a:srgbClr val="1B1526"/>
                </a:solidFill>
                <a:latin typeface="Segoe UI"/>
              </a:rPr>
              <a:t>خارطة التنفيذ والأولويات ومؤشرات النجاح</a:t>
            </a:r>
          </a:p>
        </p:txBody>
      </p:sp>
      <p:sp>
        <p:nvSpPr>
          <p:cNvPr id="4" name="Rounded Rectangle 3"/>
          <p:cNvSpPr/>
          <p:nvPr/>
        </p:nvSpPr>
        <p:spPr>
          <a:xfrm>
            <a:off x="640080" y="969264"/>
            <a:ext cx="10911535" cy="12700"/>
          </a:xfrm>
          <a:prstGeom prst="roundRect">
            <a:avLst>
              <a:gd name="adj" fmla="val 5000"/>
            </a:avLst>
          </a:prstGeom>
          <a:solidFill>
            <a:srgbClr val="E6E0E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endParaRPr/>
          </a:p>
        </p:txBody>
      </p:sp>
      <p:sp>
        <p:nvSpPr>
          <p:cNvPr id="5" name="TextBox 4"/>
          <p:cNvSpPr txBox="1"/>
          <p:nvPr/>
        </p:nvSpPr>
        <p:spPr>
          <a:xfrm>
            <a:off x="640080" y="1170432"/>
            <a:ext cx="2743200" cy="256032"/>
          </a:xfrm>
          <a:prstGeom prst="rect">
            <a:avLst/>
          </a:prstGeom>
          <a:noFill/>
        </p:spPr>
        <p:txBody>
          <a:bodyPr wrap="square" lIns="0" tIns="0" rIns="0" bIns="0">
            <a:spAutoFit/>
          </a:bodyPr>
          <a:lstStyle/>
          <a:p>
            <a:pPr algn="r" rtl="1">
              <a:spcAft>
                <a:spcPts val="0"/>
              </a:spcAft>
            </a:pPr>
            <a:r>
              <a:rPr sz="1050" b="1">
                <a:solidFill>
                  <a:srgbClr val="5B1E8C"/>
                </a:solidFill>
                <a:latin typeface="Consolas"/>
              </a:rPr>
              <a:t>الأثر مقابل الجهد</a:t>
            </a:r>
          </a:p>
        </p:txBody>
      </p:sp>
      <p:sp>
        <p:nvSpPr>
          <p:cNvPr id="6" name="Rounded Rectangle 5"/>
          <p:cNvSpPr/>
          <p:nvPr/>
        </p:nvSpPr>
        <p:spPr>
          <a:xfrm>
            <a:off x="1691640" y="1463040"/>
            <a:ext cx="1691640" cy="310896"/>
          </a:xfrm>
          <a:prstGeom prst="roundRect">
            <a:avLst>
              <a:gd name="adj" fmla="val 5000"/>
            </a:avLst>
          </a:prstGeom>
          <a:solidFill>
            <a:srgbClr val="F3EFF7"/>
          </a:solidFill>
          <a:ln w="12700">
            <a:solidFill>
              <a:srgbClr val="E6E0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spcAft>
                <a:spcPts val="0"/>
              </a:spcAft>
            </a:pPr>
            <a:r>
              <a:rPr sz="900" b="1">
                <a:solidFill>
                  <a:srgbClr val="6E6579"/>
                </a:solidFill>
                <a:latin typeface="Consolas"/>
              </a:rPr>
              <a:t>جهد منخفض</a:t>
            </a:r>
          </a:p>
        </p:txBody>
      </p:sp>
      <p:sp>
        <p:nvSpPr>
          <p:cNvPr id="7" name="Rounded Rectangle 6"/>
          <p:cNvSpPr/>
          <p:nvPr/>
        </p:nvSpPr>
        <p:spPr>
          <a:xfrm>
            <a:off x="3383280" y="1463040"/>
            <a:ext cx="1691640" cy="310896"/>
          </a:xfrm>
          <a:prstGeom prst="roundRect">
            <a:avLst>
              <a:gd name="adj" fmla="val 5000"/>
            </a:avLst>
          </a:prstGeom>
          <a:solidFill>
            <a:srgbClr val="F3EFF7"/>
          </a:solidFill>
          <a:ln w="12700">
            <a:solidFill>
              <a:srgbClr val="E6E0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spcAft>
                <a:spcPts val="0"/>
              </a:spcAft>
            </a:pPr>
            <a:r>
              <a:rPr sz="900" b="1">
                <a:solidFill>
                  <a:srgbClr val="6E6579"/>
                </a:solidFill>
                <a:latin typeface="Consolas"/>
              </a:rPr>
              <a:t>متوسط</a:t>
            </a:r>
          </a:p>
        </p:txBody>
      </p:sp>
      <p:sp>
        <p:nvSpPr>
          <p:cNvPr id="8" name="Rounded Rectangle 7"/>
          <p:cNvSpPr/>
          <p:nvPr/>
        </p:nvSpPr>
        <p:spPr>
          <a:xfrm>
            <a:off x="5074920" y="1463040"/>
            <a:ext cx="1691640" cy="310896"/>
          </a:xfrm>
          <a:prstGeom prst="roundRect">
            <a:avLst>
              <a:gd name="adj" fmla="val 5000"/>
            </a:avLst>
          </a:prstGeom>
          <a:solidFill>
            <a:srgbClr val="F3EFF7"/>
          </a:solidFill>
          <a:ln w="12700">
            <a:solidFill>
              <a:srgbClr val="E6E0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spcAft>
                <a:spcPts val="0"/>
              </a:spcAft>
            </a:pPr>
            <a:r>
              <a:rPr sz="900" b="1">
                <a:solidFill>
                  <a:srgbClr val="6E6579"/>
                </a:solidFill>
                <a:latin typeface="Consolas"/>
              </a:rPr>
              <a:t>مرتفع</a:t>
            </a:r>
          </a:p>
        </p:txBody>
      </p:sp>
      <p:sp>
        <p:nvSpPr>
          <p:cNvPr id="9" name="Rounded Rectangle 8"/>
          <p:cNvSpPr/>
          <p:nvPr/>
        </p:nvSpPr>
        <p:spPr>
          <a:xfrm>
            <a:off x="640080" y="1773936"/>
            <a:ext cx="1051560" cy="914400"/>
          </a:xfrm>
          <a:prstGeom prst="roundRect">
            <a:avLst>
              <a:gd name="adj" fmla="val 5000"/>
            </a:avLst>
          </a:prstGeom>
          <a:solidFill>
            <a:srgbClr val="F3EFF7"/>
          </a:solidFill>
          <a:ln w="12700">
            <a:solidFill>
              <a:srgbClr val="E6E0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spcAft>
                <a:spcPts val="0"/>
              </a:spcAft>
            </a:pPr>
            <a:r>
              <a:rPr sz="900" b="1">
                <a:solidFill>
                  <a:srgbClr val="6E6579"/>
                </a:solidFill>
                <a:latin typeface="Consolas"/>
              </a:rPr>
              <a:t>أثر مرتفع</a:t>
            </a:r>
          </a:p>
        </p:txBody>
      </p:sp>
      <p:sp>
        <p:nvSpPr>
          <p:cNvPr id="10" name="Rounded Rectangle 9"/>
          <p:cNvSpPr/>
          <p:nvPr/>
        </p:nvSpPr>
        <p:spPr>
          <a:xfrm>
            <a:off x="1691640" y="1773936"/>
            <a:ext cx="1691640" cy="914400"/>
          </a:xfrm>
          <a:prstGeom prst="roundRect">
            <a:avLst>
              <a:gd name="adj" fmla="val 5000"/>
            </a:avLst>
          </a:prstGeom>
          <a:solidFill>
            <a:srgbClr val="FFFFFF"/>
          </a:solidFill>
          <a:ln w="12700">
            <a:solidFill>
              <a:srgbClr val="E6E0EC"/>
            </a:solidFill>
          </a:ln>
          <a:effectLst/>
        </p:spPr>
        <p:style>
          <a:lnRef idx="1">
            <a:schemeClr val="accent1"/>
          </a:lnRef>
          <a:fillRef idx="3">
            <a:schemeClr val="accent1"/>
          </a:fillRef>
          <a:effectRef idx="2">
            <a:schemeClr val="accent1"/>
          </a:effectRef>
          <a:fontRef idx="minor">
            <a:schemeClr val="lt1"/>
          </a:fontRef>
        </p:style>
        <p:txBody>
          <a:bodyPr wrap="square" lIns="64008" tIns="54864" rIns="64008" rtlCol="0" anchor="ctr"/>
          <a:lstStyle/>
          <a:p>
            <a:pPr algn="r" rtl="1">
              <a:spcAft>
                <a:spcPts val="300"/>
              </a:spcAft>
            </a:pPr>
            <a:r>
              <a:rPr sz="950" b="1">
                <a:solidFill>
                  <a:srgbClr val="0B7A5B"/>
                </a:solidFill>
                <a:latin typeface="Segoe UI"/>
              </a:rPr>
              <a:t>1 · صف المسلسلات</a:t>
            </a:r>
          </a:p>
          <a:p>
            <a:pPr algn="r" rtl="1">
              <a:spcAft>
                <a:spcPts val="300"/>
              </a:spcAft>
            </a:pPr>
            <a:r>
              <a:rPr sz="950" b="1">
                <a:solidFill>
                  <a:srgbClr val="0B7A5B"/>
                </a:solidFill>
                <a:latin typeface="Segoe UI"/>
              </a:rPr>
              <a:t>2 · مُنتقي التفضيلات</a:t>
            </a:r>
          </a:p>
          <a:p>
            <a:pPr algn="r" rtl="1">
              <a:spcAft>
                <a:spcPts val="300"/>
              </a:spcAft>
            </a:pPr>
            <a:r>
              <a:rPr sz="950" b="1">
                <a:solidFill>
                  <a:srgbClr val="0B7A5B"/>
                </a:solidFill>
                <a:latin typeface="Segoe UI"/>
              </a:rPr>
              <a:t>4 · الاستعادة</a:t>
            </a:r>
          </a:p>
        </p:txBody>
      </p:sp>
      <p:sp>
        <p:nvSpPr>
          <p:cNvPr id="11" name="Rounded Rectangle 10"/>
          <p:cNvSpPr/>
          <p:nvPr/>
        </p:nvSpPr>
        <p:spPr>
          <a:xfrm>
            <a:off x="3383280" y="1773936"/>
            <a:ext cx="1691640" cy="914400"/>
          </a:xfrm>
          <a:prstGeom prst="roundRect">
            <a:avLst>
              <a:gd name="adj" fmla="val 5000"/>
            </a:avLst>
          </a:prstGeom>
          <a:solidFill>
            <a:srgbClr val="FFFFFF"/>
          </a:solidFill>
          <a:ln w="12700">
            <a:solidFill>
              <a:srgbClr val="E6E0EC"/>
            </a:solidFill>
          </a:ln>
          <a:effectLst/>
        </p:spPr>
        <p:style>
          <a:lnRef idx="1">
            <a:schemeClr val="accent1"/>
          </a:lnRef>
          <a:fillRef idx="3">
            <a:schemeClr val="accent1"/>
          </a:fillRef>
          <a:effectRef idx="2">
            <a:schemeClr val="accent1"/>
          </a:effectRef>
          <a:fontRef idx="minor">
            <a:schemeClr val="lt1"/>
          </a:fontRef>
        </p:style>
        <p:txBody>
          <a:bodyPr wrap="square" lIns="64008" tIns="54864" rIns="64008" rtlCol="0" anchor="ctr"/>
          <a:lstStyle/>
          <a:p>
            <a:pPr algn="r" rtl="1">
              <a:spcAft>
                <a:spcPts val="300"/>
              </a:spcAft>
            </a:pPr>
            <a:r>
              <a:rPr sz="950" b="1">
                <a:solidFill>
                  <a:srgbClr val="5B1E8C"/>
                </a:solidFill>
                <a:latin typeface="Segoe UI"/>
              </a:rPr>
              <a:t>3 · محرّك التوصية</a:t>
            </a:r>
          </a:p>
          <a:p>
            <a:pPr algn="r" rtl="1">
              <a:spcAft>
                <a:spcPts val="300"/>
              </a:spcAft>
            </a:pPr>
            <a:r>
              <a:rPr sz="950" b="1">
                <a:solidFill>
                  <a:srgbClr val="5B1E8C"/>
                </a:solidFill>
                <a:latin typeface="Segoe UI"/>
              </a:rPr>
              <a:t>5 · أول 60 ثانية</a:t>
            </a:r>
          </a:p>
        </p:txBody>
      </p:sp>
      <p:sp>
        <p:nvSpPr>
          <p:cNvPr id="12" name="Rounded Rectangle 11"/>
          <p:cNvSpPr/>
          <p:nvPr/>
        </p:nvSpPr>
        <p:spPr>
          <a:xfrm>
            <a:off x="5074920" y="1773936"/>
            <a:ext cx="1691640" cy="914400"/>
          </a:xfrm>
          <a:prstGeom prst="roundRect">
            <a:avLst>
              <a:gd name="adj" fmla="val 5000"/>
            </a:avLst>
          </a:prstGeom>
          <a:solidFill>
            <a:srgbClr val="F3EFF7"/>
          </a:solidFill>
          <a:ln w="12700">
            <a:solidFill>
              <a:srgbClr val="E6E0EC"/>
            </a:solidFill>
          </a:ln>
          <a:effectLst/>
        </p:spPr>
        <p:style>
          <a:lnRef idx="1">
            <a:schemeClr val="accent1"/>
          </a:lnRef>
          <a:fillRef idx="3">
            <a:schemeClr val="accent1"/>
          </a:fillRef>
          <a:effectRef idx="2">
            <a:schemeClr val="accent1"/>
          </a:effectRef>
          <a:fontRef idx="minor">
            <a:schemeClr val="lt1"/>
          </a:fontRef>
        </p:style>
        <p:txBody>
          <a:bodyPr wrap="square" lIns="64008" tIns="54864" rIns="64008" rtlCol="0" anchor="ctr"/>
          <a:lstStyle/>
          <a:p>
            <a:pPr algn="ctr" rtl="1"/>
            <a:endParaRPr/>
          </a:p>
        </p:txBody>
      </p:sp>
      <p:sp>
        <p:nvSpPr>
          <p:cNvPr id="13" name="Rounded Rectangle 12"/>
          <p:cNvSpPr/>
          <p:nvPr/>
        </p:nvSpPr>
        <p:spPr>
          <a:xfrm>
            <a:off x="640080" y="2688336"/>
            <a:ext cx="1051560" cy="914400"/>
          </a:xfrm>
          <a:prstGeom prst="roundRect">
            <a:avLst>
              <a:gd name="adj" fmla="val 5000"/>
            </a:avLst>
          </a:prstGeom>
          <a:solidFill>
            <a:srgbClr val="F3EFF7"/>
          </a:solidFill>
          <a:ln w="12700">
            <a:solidFill>
              <a:srgbClr val="E6E0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spcAft>
                <a:spcPts val="0"/>
              </a:spcAft>
            </a:pPr>
            <a:r>
              <a:rPr sz="900" b="1">
                <a:solidFill>
                  <a:srgbClr val="6E6579"/>
                </a:solidFill>
                <a:latin typeface="Consolas"/>
              </a:rPr>
              <a:t>متوسط</a:t>
            </a:r>
          </a:p>
        </p:txBody>
      </p:sp>
      <p:sp>
        <p:nvSpPr>
          <p:cNvPr id="14" name="Rounded Rectangle 13"/>
          <p:cNvSpPr/>
          <p:nvPr/>
        </p:nvSpPr>
        <p:spPr>
          <a:xfrm>
            <a:off x="1691640" y="2688336"/>
            <a:ext cx="1691640" cy="914400"/>
          </a:xfrm>
          <a:prstGeom prst="roundRect">
            <a:avLst>
              <a:gd name="adj" fmla="val 5000"/>
            </a:avLst>
          </a:prstGeom>
          <a:solidFill>
            <a:srgbClr val="F3EFF7"/>
          </a:solidFill>
          <a:ln w="12700">
            <a:solidFill>
              <a:srgbClr val="E6E0EC"/>
            </a:solidFill>
          </a:ln>
          <a:effectLst/>
        </p:spPr>
        <p:style>
          <a:lnRef idx="1">
            <a:schemeClr val="accent1"/>
          </a:lnRef>
          <a:fillRef idx="3">
            <a:schemeClr val="accent1"/>
          </a:fillRef>
          <a:effectRef idx="2">
            <a:schemeClr val="accent1"/>
          </a:effectRef>
          <a:fontRef idx="minor">
            <a:schemeClr val="lt1"/>
          </a:fontRef>
        </p:style>
        <p:txBody>
          <a:bodyPr wrap="square" lIns="64008" tIns="54864" rIns="64008" rtlCol="0" anchor="ctr"/>
          <a:lstStyle/>
          <a:p>
            <a:pPr algn="ctr" rtl="1"/>
            <a:endParaRPr/>
          </a:p>
        </p:txBody>
      </p:sp>
      <p:sp>
        <p:nvSpPr>
          <p:cNvPr id="15" name="Rounded Rectangle 14"/>
          <p:cNvSpPr/>
          <p:nvPr/>
        </p:nvSpPr>
        <p:spPr>
          <a:xfrm>
            <a:off x="3383280" y="2688336"/>
            <a:ext cx="1691640" cy="914400"/>
          </a:xfrm>
          <a:prstGeom prst="roundRect">
            <a:avLst>
              <a:gd name="adj" fmla="val 5000"/>
            </a:avLst>
          </a:prstGeom>
          <a:solidFill>
            <a:srgbClr val="FFFFFF"/>
          </a:solidFill>
          <a:ln w="12700">
            <a:solidFill>
              <a:srgbClr val="E6E0EC"/>
            </a:solidFill>
          </a:ln>
          <a:effectLst/>
        </p:spPr>
        <p:style>
          <a:lnRef idx="1">
            <a:schemeClr val="accent1"/>
          </a:lnRef>
          <a:fillRef idx="3">
            <a:schemeClr val="accent1"/>
          </a:fillRef>
          <a:effectRef idx="2">
            <a:schemeClr val="accent1"/>
          </a:effectRef>
          <a:fontRef idx="minor">
            <a:schemeClr val="lt1"/>
          </a:fontRef>
        </p:style>
        <p:txBody>
          <a:bodyPr wrap="square" lIns="64008" tIns="54864" rIns="64008" rtlCol="0" anchor="ctr"/>
          <a:lstStyle/>
          <a:p>
            <a:pPr algn="r" rtl="1">
              <a:spcAft>
                <a:spcPts val="300"/>
              </a:spcAft>
            </a:pPr>
            <a:r>
              <a:rPr sz="950" b="1">
                <a:solidFill>
                  <a:srgbClr val="5B1E8C"/>
                </a:solidFill>
                <a:latin typeface="Segoe UI"/>
              </a:rPr>
              <a:t>6 · صفوف الذيل الطويل</a:t>
            </a:r>
          </a:p>
        </p:txBody>
      </p:sp>
      <p:sp>
        <p:nvSpPr>
          <p:cNvPr id="16" name="Rounded Rectangle 15"/>
          <p:cNvSpPr/>
          <p:nvPr/>
        </p:nvSpPr>
        <p:spPr>
          <a:xfrm>
            <a:off x="5074920" y="2688336"/>
            <a:ext cx="1691640" cy="914400"/>
          </a:xfrm>
          <a:prstGeom prst="roundRect">
            <a:avLst>
              <a:gd name="adj" fmla="val 5000"/>
            </a:avLst>
          </a:prstGeom>
          <a:solidFill>
            <a:srgbClr val="FFFFFF"/>
          </a:solidFill>
          <a:ln w="12700">
            <a:solidFill>
              <a:srgbClr val="E6E0EC"/>
            </a:solidFill>
          </a:ln>
          <a:effectLst/>
        </p:spPr>
        <p:style>
          <a:lnRef idx="1">
            <a:schemeClr val="accent1"/>
          </a:lnRef>
          <a:fillRef idx="3">
            <a:schemeClr val="accent1"/>
          </a:fillRef>
          <a:effectRef idx="2">
            <a:schemeClr val="accent1"/>
          </a:effectRef>
          <a:fontRef idx="minor">
            <a:schemeClr val="lt1"/>
          </a:fontRef>
        </p:style>
        <p:txBody>
          <a:bodyPr wrap="square" lIns="64008" tIns="54864" rIns="64008" rtlCol="0" anchor="ctr"/>
          <a:lstStyle/>
          <a:p>
            <a:pPr algn="r" rtl="1">
              <a:spcAft>
                <a:spcPts val="300"/>
              </a:spcAft>
            </a:pPr>
            <a:r>
              <a:rPr sz="950" b="1">
                <a:solidFill>
                  <a:srgbClr val="5B1E8C"/>
                </a:solidFill>
                <a:latin typeface="Segoe UI"/>
              </a:rPr>
              <a:t>7 · الجودة التكيّفية</a:t>
            </a:r>
          </a:p>
        </p:txBody>
      </p:sp>
      <p:sp>
        <p:nvSpPr>
          <p:cNvPr id="17" name="Rounded Rectangle 16"/>
          <p:cNvSpPr/>
          <p:nvPr/>
        </p:nvSpPr>
        <p:spPr>
          <a:xfrm>
            <a:off x="640080" y="3602736"/>
            <a:ext cx="1051560" cy="914400"/>
          </a:xfrm>
          <a:prstGeom prst="roundRect">
            <a:avLst>
              <a:gd name="adj" fmla="val 5000"/>
            </a:avLst>
          </a:prstGeom>
          <a:solidFill>
            <a:srgbClr val="F3EFF7"/>
          </a:solidFill>
          <a:ln w="12700">
            <a:solidFill>
              <a:srgbClr val="E6E0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spcAft>
                <a:spcPts val="0"/>
              </a:spcAft>
            </a:pPr>
            <a:r>
              <a:rPr sz="900" b="1">
                <a:solidFill>
                  <a:srgbClr val="6E6579"/>
                </a:solidFill>
                <a:latin typeface="Consolas"/>
              </a:rPr>
              <a:t>منخفض</a:t>
            </a:r>
          </a:p>
        </p:txBody>
      </p:sp>
      <p:sp>
        <p:nvSpPr>
          <p:cNvPr id="18" name="Rounded Rectangle 17"/>
          <p:cNvSpPr/>
          <p:nvPr/>
        </p:nvSpPr>
        <p:spPr>
          <a:xfrm>
            <a:off x="1691640" y="3602736"/>
            <a:ext cx="1691640" cy="914400"/>
          </a:xfrm>
          <a:prstGeom prst="roundRect">
            <a:avLst>
              <a:gd name="adj" fmla="val 5000"/>
            </a:avLst>
          </a:prstGeom>
          <a:solidFill>
            <a:srgbClr val="F3EFF7"/>
          </a:solidFill>
          <a:ln w="12700">
            <a:solidFill>
              <a:srgbClr val="E6E0EC"/>
            </a:solidFill>
          </a:ln>
          <a:effectLst/>
        </p:spPr>
        <p:style>
          <a:lnRef idx="1">
            <a:schemeClr val="accent1"/>
          </a:lnRef>
          <a:fillRef idx="3">
            <a:schemeClr val="accent1"/>
          </a:fillRef>
          <a:effectRef idx="2">
            <a:schemeClr val="accent1"/>
          </a:effectRef>
          <a:fontRef idx="minor">
            <a:schemeClr val="lt1"/>
          </a:fontRef>
        </p:style>
        <p:txBody>
          <a:bodyPr wrap="square" lIns="64008" tIns="54864" rIns="64008" rtlCol="0" anchor="ctr"/>
          <a:lstStyle/>
          <a:p>
            <a:pPr algn="ctr" rtl="1"/>
            <a:endParaRPr/>
          </a:p>
        </p:txBody>
      </p:sp>
      <p:sp>
        <p:nvSpPr>
          <p:cNvPr id="19" name="Rounded Rectangle 18"/>
          <p:cNvSpPr/>
          <p:nvPr/>
        </p:nvSpPr>
        <p:spPr>
          <a:xfrm>
            <a:off x="3383280" y="3602736"/>
            <a:ext cx="1691640" cy="914400"/>
          </a:xfrm>
          <a:prstGeom prst="roundRect">
            <a:avLst>
              <a:gd name="adj" fmla="val 5000"/>
            </a:avLst>
          </a:prstGeom>
          <a:solidFill>
            <a:srgbClr val="F3EFF7"/>
          </a:solidFill>
          <a:ln w="12700">
            <a:solidFill>
              <a:srgbClr val="E6E0EC"/>
            </a:solidFill>
          </a:ln>
          <a:effectLst/>
        </p:spPr>
        <p:style>
          <a:lnRef idx="1">
            <a:schemeClr val="accent1"/>
          </a:lnRef>
          <a:fillRef idx="3">
            <a:schemeClr val="accent1"/>
          </a:fillRef>
          <a:effectRef idx="2">
            <a:schemeClr val="accent1"/>
          </a:effectRef>
          <a:fontRef idx="minor">
            <a:schemeClr val="lt1"/>
          </a:fontRef>
        </p:style>
        <p:txBody>
          <a:bodyPr wrap="square" lIns="64008" tIns="54864" rIns="64008" rtlCol="0" anchor="ctr"/>
          <a:lstStyle/>
          <a:p>
            <a:pPr algn="ctr" rtl="1"/>
            <a:endParaRPr/>
          </a:p>
        </p:txBody>
      </p:sp>
      <p:sp>
        <p:nvSpPr>
          <p:cNvPr id="20" name="Rounded Rectangle 19"/>
          <p:cNvSpPr/>
          <p:nvPr/>
        </p:nvSpPr>
        <p:spPr>
          <a:xfrm>
            <a:off x="5074920" y="3602736"/>
            <a:ext cx="1691640" cy="914400"/>
          </a:xfrm>
          <a:prstGeom prst="roundRect">
            <a:avLst>
              <a:gd name="adj" fmla="val 5000"/>
            </a:avLst>
          </a:prstGeom>
          <a:solidFill>
            <a:srgbClr val="F3EFF7"/>
          </a:solidFill>
          <a:ln w="12700">
            <a:solidFill>
              <a:srgbClr val="E6E0EC"/>
            </a:solidFill>
          </a:ln>
          <a:effectLst/>
        </p:spPr>
        <p:style>
          <a:lnRef idx="1">
            <a:schemeClr val="accent1"/>
          </a:lnRef>
          <a:fillRef idx="3">
            <a:schemeClr val="accent1"/>
          </a:fillRef>
          <a:effectRef idx="2">
            <a:schemeClr val="accent1"/>
          </a:effectRef>
          <a:fontRef idx="minor">
            <a:schemeClr val="lt1"/>
          </a:fontRef>
        </p:style>
        <p:txBody>
          <a:bodyPr wrap="square" lIns="64008" tIns="54864" rIns="64008" rtlCol="0" anchor="ctr"/>
          <a:lstStyle/>
          <a:p>
            <a:pPr algn="ctr" rtl="1"/>
            <a:endParaRPr/>
          </a:p>
        </p:txBody>
      </p:sp>
      <p:sp>
        <p:nvSpPr>
          <p:cNvPr id="21" name="TextBox 20"/>
          <p:cNvSpPr txBox="1"/>
          <p:nvPr/>
        </p:nvSpPr>
        <p:spPr>
          <a:xfrm>
            <a:off x="640080" y="4617720"/>
            <a:ext cx="2743200" cy="256032"/>
          </a:xfrm>
          <a:prstGeom prst="rect">
            <a:avLst/>
          </a:prstGeom>
          <a:noFill/>
        </p:spPr>
        <p:txBody>
          <a:bodyPr wrap="square" lIns="0" tIns="0" rIns="0" bIns="0">
            <a:spAutoFit/>
          </a:bodyPr>
          <a:lstStyle/>
          <a:p>
            <a:pPr algn="r" rtl="1">
              <a:spcAft>
                <a:spcPts val="0"/>
              </a:spcAft>
            </a:pPr>
            <a:r>
              <a:rPr sz="1050" b="1">
                <a:solidFill>
                  <a:srgbClr val="5B1E8C"/>
                </a:solidFill>
                <a:latin typeface="Consolas"/>
              </a:rPr>
              <a:t>المراحل</a:t>
            </a:r>
          </a:p>
        </p:txBody>
      </p:sp>
      <p:sp>
        <p:nvSpPr>
          <p:cNvPr id="22" name="Rounded Rectangle 21"/>
          <p:cNvSpPr/>
          <p:nvPr/>
        </p:nvSpPr>
        <p:spPr>
          <a:xfrm>
            <a:off x="640080" y="4937760"/>
            <a:ext cx="82296" cy="457200"/>
          </a:xfrm>
          <a:prstGeom prst="roundRect">
            <a:avLst>
              <a:gd name="adj" fmla="val 5000"/>
            </a:avLst>
          </a:prstGeom>
          <a:solidFill>
            <a:srgbClr val="0B7A5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endParaRPr/>
          </a:p>
        </p:txBody>
      </p:sp>
      <p:sp>
        <p:nvSpPr>
          <p:cNvPr id="23" name="TextBox 22"/>
          <p:cNvSpPr txBox="1"/>
          <p:nvPr/>
        </p:nvSpPr>
        <p:spPr>
          <a:xfrm>
            <a:off x="868680" y="4937760"/>
            <a:ext cx="5760720" cy="457200"/>
          </a:xfrm>
          <a:prstGeom prst="rect">
            <a:avLst/>
          </a:prstGeom>
          <a:noFill/>
        </p:spPr>
        <p:txBody>
          <a:bodyPr wrap="square" lIns="0" tIns="0" rIns="0" bIns="0">
            <a:spAutoFit/>
          </a:bodyPr>
          <a:lstStyle/>
          <a:p>
            <a:pPr algn="r" rtl="1">
              <a:spcAft>
                <a:spcPts val="100"/>
              </a:spcAft>
            </a:pPr>
            <a:r>
              <a:rPr sz="1050" b="1">
                <a:solidFill>
                  <a:srgbClr val="0B7A5B"/>
                </a:solidFill>
                <a:latin typeface="Consolas"/>
              </a:rPr>
              <a:t>المرحلة 1 · 0-3 أشهر</a:t>
            </a:r>
          </a:p>
          <a:p>
            <a:pPr algn="r" rtl="1">
              <a:spcAft>
                <a:spcPts val="0"/>
              </a:spcAft>
            </a:pPr>
            <a:r>
              <a:rPr sz="1000" b="0">
                <a:solidFill>
                  <a:srgbClr val="453C52"/>
                </a:solidFill>
                <a:latin typeface="Segoe UI"/>
              </a:rPr>
              <a:t>مُنتقي التفضيلات · صف «تابع المشاهدة» · محفّزات الاستعادة · تجهيز قياس الأحداث</a:t>
            </a:r>
          </a:p>
        </p:txBody>
      </p:sp>
      <p:sp>
        <p:nvSpPr>
          <p:cNvPr id="24" name="Rounded Rectangle 23"/>
          <p:cNvSpPr/>
          <p:nvPr/>
        </p:nvSpPr>
        <p:spPr>
          <a:xfrm>
            <a:off x="640080" y="5504688"/>
            <a:ext cx="82296" cy="457200"/>
          </a:xfrm>
          <a:prstGeom prst="roundRect">
            <a:avLst>
              <a:gd name="adj" fmla="val 5000"/>
            </a:avLst>
          </a:prstGeom>
          <a:solidFill>
            <a:srgbClr val="5B1E8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endParaRPr/>
          </a:p>
        </p:txBody>
      </p:sp>
      <p:sp>
        <p:nvSpPr>
          <p:cNvPr id="25" name="TextBox 24"/>
          <p:cNvSpPr txBox="1"/>
          <p:nvPr/>
        </p:nvSpPr>
        <p:spPr>
          <a:xfrm>
            <a:off x="868680" y="5504688"/>
            <a:ext cx="5760720" cy="457200"/>
          </a:xfrm>
          <a:prstGeom prst="rect">
            <a:avLst/>
          </a:prstGeom>
          <a:noFill/>
        </p:spPr>
        <p:txBody>
          <a:bodyPr wrap="square" lIns="0" tIns="0" rIns="0" bIns="0">
            <a:spAutoFit/>
          </a:bodyPr>
          <a:lstStyle/>
          <a:p>
            <a:pPr algn="r" rtl="1">
              <a:spcAft>
                <a:spcPts val="100"/>
              </a:spcAft>
            </a:pPr>
            <a:r>
              <a:rPr sz="1050" b="1">
                <a:solidFill>
                  <a:srgbClr val="5B1E8C"/>
                </a:solidFill>
                <a:latin typeface="Consolas"/>
              </a:rPr>
              <a:t>المرحلة 2 · 3-6 أشهر</a:t>
            </a:r>
          </a:p>
          <a:p>
            <a:pPr algn="r" rtl="1">
              <a:spcAft>
                <a:spcPts val="0"/>
              </a:spcAft>
            </a:pPr>
            <a:r>
              <a:rPr sz="1000" b="0">
                <a:solidFill>
                  <a:srgbClr val="453C52"/>
                </a:solidFill>
                <a:latin typeface="Segoe UI"/>
              </a:rPr>
              <a:t>تشغيل محرّك التوصية · إعادة بناء أول 60 ثانية · صفوف الذيل الطويل</a:t>
            </a:r>
          </a:p>
        </p:txBody>
      </p:sp>
      <p:sp>
        <p:nvSpPr>
          <p:cNvPr id="26" name="Rounded Rectangle 25"/>
          <p:cNvSpPr/>
          <p:nvPr/>
        </p:nvSpPr>
        <p:spPr>
          <a:xfrm>
            <a:off x="640080" y="6071616"/>
            <a:ext cx="82296" cy="457200"/>
          </a:xfrm>
          <a:prstGeom prst="roundRect">
            <a:avLst>
              <a:gd name="adj" fmla="val 5000"/>
            </a:avLst>
          </a:prstGeom>
          <a:solidFill>
            <a:srgbClr val="6E657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endParaRPr/>
          </a:p>
        </p:txBody>
      </p:sp>
      <p:sp>
        <p:nvSpPr>
          <p:cNvPr id="27" name="TextBox 26"/>
          <p:cNvSpPr txBox="1"/>
          <p:nvPr/>
        </p:nvSpPr>
        <p:spPr>
          <a:xfrm>
            <a:off x="868680" y="6071616"/>
            <a:ext cx="5760720" cy="457200"/>
          </a:xfrm>
          <a:prstGeom prst="rect">
            <a:avLst/>
          </a:prstGeom>
          <a:noFill/>
        </p:spPr>
        <p:txBody>
          <a:bodyPr wrap="square" lIns="0" tIns="0" rIns="0" bIns="0">
            <a:spAutoFit/>
          </a:bodyPr>
          <a:lstStyle/>
          <a:p>
            <a:pPr algn="r" rtl="1">
              <a:spcAft>
                <a:spcPts val="100"/>
              </a:spcAft>
            </a:pPr>
            <a:r>
              <a:rPr sz="1050" b="1">
                <a:solidFill>
                  <a:srgbClr val="6E6579"/>
                </a:solidFill>
                <a:latin typeface="Consolas"/>
              </a:rPr>
              <a:t>المرحلة 3 · 6-12 شهراً</a:t>
            </a:r>
          </a:p>
          <a:p>
            <a:pPr algn="r" rtl="1">
              <a:spcAft>
                <a:spcPts val="0"/>
              </a:spcAft>
            </a:pPr>
            <a:r>
              <a:rPr sz="1000" b="0">
                <a:solidFill>
                  <a:srgbClr val="453C52"/>
                </a:solidFill>
                <a:latin typeface="Segoe UI"/>
              </a:rPr>
              <a:t>الجودة التكيّفية · شاشات رئيسية حسب الشريحة · إعادة التدريب على بيانات نقر حقيقية</a:t>
            </a:r>
          </a:p>
        </p:txBody>
      </p:sp>
      <p:sp>
        <p:nvSpPr>
          <p:cNvPr id="28" name="TextBox 27"/>
          <p:cNvSpPr txBox="1"/>
          <p:nvPr/>
        </p:nvSpPr>
        <p:spPr>
          <a:xfrm>
            <a:off x="7040880" y="1170432"/>
            <a:ext cx="2743200" cy="256032"/>
          </a:xfrm>
          <a:prstGeom prst="rect">
            <a:avLst/>
          </a:prstGeom>
          <a:noFill/>
        </p:spPr>
        <p:txBody>
          <a:bodyPr wrap="square" lIns="0" tIns="0" rIns="0" bIns="0">
            <a:spAutoFit/>
          </a:bodyPr>
          <a:lstStyle/>
          <a:p>
            <a:pPr algn="r" rtl="1">
              <a:spcAft>
                <a:spcPts val="0"/>
              </a:spcAft>
            </a:pPr>
            <a:r>
              <a:rPr sz="1050" b="1">
                <a:solidFill>
                  <a:srgbClr val="5B1E8C"/>
                </a:solidFill>
                <a:latin typeface="Consolas"/>
              </a:rPr>
              <a:t>بطاقة مؤشرات الأداء</a:t>
            </a:r>
          </a:p>
        </p:txBody>
      </p:sp>
      <p:graphicFrame>
        <p:nvGraphicFramePr>
          <p:cNvPr id="29" name="Table 28"/>
          <p:cNvGraphicFramePr>
            <a:graphicFrameLocks noGrp="1"/>
          </p:cNvGraphicFramePr>
          <p:nvPr/>
        </p:nvGraphicFramePr>
        <p:xfrm>
          <a:off x="7040880" y="1463040"/>
          <a:ext cx="4480560" cy="31089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388620">
                <a:tc>
                  <a:txBody>
                    <a:bodyPr/>
                    <a:lstStyle/>
                    <a:p>
                      <a:pPr algn="r" rtl="1"/>
                      <a:r>
                        <a:rPr sz="900" b="1">
                          <a:solidFill>
                            <a:srgbClr val="6E6579"/>
                          </a:solidFill>
                          <a:latin typeface="Segoe UI"/>
                        </a:rPr>
                        <a:t>المؤشر</a:t>
                      </a:r>
                    </a:p>
                  </a:txBody>
                  <a:tcPr marL="82296" marR="82296" anchor="ctr">
                    <a:solidFill>
                      <a:srgbClr val="F3EFF7"/>
                    </a:solidFill>
                  </a:tcPr>
                </a:tc>
                <a:tc>
                  <a:txBody>
                    <a:bodyPr/>
                    <a:lstStyle/>
                    <a:p>
                      <a:pPr algn="r" rtl="1"/>
                      <a:r>
                        <a:rPr sz="900" b="1">
                          <a:solidFill>
                            <a:srgbClr val="6E6579"/>
                          </a:solidFill>
                          <a:latin typeface="Segoe UI"/>
                        </a:rPr>
                        <a:t>خط الأساس</a:t>
                      </a:r>
                    </a:p>
                  </a:txBody>
                  <a:tcPr marL="82296" marR="82296" anchor="ctr">
                    <a:solidFill>
                      <a:srgbClr val="F3EFF7"/>
                    </a:solidFill>
                  </a:tcPr>
                </a:tc>
                <a:tc>
                  <a:txBody>
                    <a:bodyPr/>
                    <a:lstStyle/>
                    <a:p>
                      <a:pPr algn="r" rtl="1"/>
                      <a:r>
                        <a:rPr sz="900" b="1">
                          <a:solidFill>
                            <a:srgbClr val="6E6579"/>
                          </a:solidFill>
                          <a:latin typeface="Segoe UI"/>
                        </a:rPr>
                        <a:t>مستهدف 12 شهراً</a:t>
                      </a:r>
                    </a:p>
                  </a:txBody>
                  <a:tcPr marL="82296" marR="82296" anchor="ctr">
                    <a:solidFill>
                      <a:srgbClr val="F3EFF7"/>
                    </a:solidFill>
                  </a:tcPr>
                </a:tc>
                <a:extLst>
                  <a:ext uri="{0D108BD9-81ED-4DB2-BD59-A6C34878D82A}">
                    <a16:rowId xmlns:a16="http://schemas.microsoft.com/office/drawing/2014/main" val="10000"/>
                  </a:ext>
                </a:extLst>
              </a:tr>
              <a:tr h="388620">
                <a:tc>
                  <a:txBody>
                    <a:bodyPr/>
                    <a:lstStyle/>
                    <a:p>
                      <a:pPr algn="r" rtl="1"/>
                      <a:r>
                        <a:rPr sz="1000" b="0">
                          <a:solidFill>
                            <a:srgbClr val="1B1526"/>
                          </a:solidFill>
                          <a:latin typeface="Segoe UI"/>
                        </a:rPr>
                        <a:t>جلسات تُهجر خلال 60 ثانية</a:t>
                      </a:r>
                    </a:p>
                  </a:txBody>
                  <a:tcPr marL="82296" marR="82296" anchor="ctr">
                    <a:solidFill>
                      <a:srgbClr val="FFFFFF"/>
                    </a:solidFill>
                  </a:tcPr>
                </a:tc>
                <a:tc>
                  <a:txBody>
                    <a:bodyPr/>
                    <a:lstStyle/>
                    <a:p>
                      <a:pPr algn="ctr" rtl="1"/>
                      <a:r>
                        <a:rPr sz="1000" b="0">
                          <a:solidFill>
                            <a:srgbClr val="1B1526"/>
                          </a:solidFill>
                          <a:latin typeface="Consolas"/>
                        </a:rPr>
                        <a:t>27.4%</a:t>
                      </a:r>
                    </a:p>
                  </a:txBody>
                  <a:tcPr marL="82296" marR="82296" anchor="ctr">
                    <a:solidFill>
                      <a:srgbClr val="FFFFFF"/>
                    </a:solidFill>
                  </a:tcPr>
                </a:tc>
                <a:tc>
                  <a:txBody>
                    <a:bodyPr/>
                    <a:lstStyle/>
                    <a:p>
                      <a:pPr algn="ctr" rtl="1"/>
                      <a:r>
                        <a:rPr sz="1000" b="1">
                          <a:solidFill>
                            <a:srgbClr val="5B1E8C"/>
                          </a:solidFill>
                          <a:latin typeface="Consolas"/>
                        </a:rPr>
                        <a:t>20.0%</a:t>
                      </a:r>
                    </a:p>
                  </a:txBody>
                  <a:tcPr marL="82296" marR="82296" anchor="ctr">
                    <a:solidFill>
                      <a:srgbClr val="FFFFFF"/>
                    </a:solidFill>
                  </a:tcPr>
                </a:tc>
                <a:extLst>
                  <a:ext uri="{0D108BD9-81ED-4DB2-BD59-A6C34878D82A}">
                    <a16:rowId xmlns:a16="http://schemas.microsoft.com/office/drawing/2014/main" val="10001"/>
                  </a:ext>
                </a:extLst>
              </a:tr>
              <a:tr h="388620">
                <a:tc>
                  <a:txBody>
                    <a:bodyPr/>
                    <a:lstStyle/>
                    <a:p>
                      <a:pPr algn="r" rtl="1"/>
                      <a:r>
                        <a:rPr sz="1000" b="0">
                          <a:solidFill>
                            <a:srgbClr val="1B1526"/>
                          </a:solidFill>
                          <a:latin typeface="Segoe UI"/>
                        </a:rPr>
                        <a:t>من يبدأ مسلسلاً</a:t>
                      </a:r>
                    </a:p>
                  </a:txBody>
                  <a:tcPr marL="82296" marR="82296" anchor="ctr">
                    <a:solidFill>
                      <a:srgbClr val="FFFFFF"/>
                    </a:solidFill>
                  </a:tcPr>
                </a:tc>
                <a:tc>
                  <a:txBody>
                    <a:bodyPr/>
                    <a:lstStyle/>
                    <a:p>
                      <a:pPr algn="ctr" rtl="1"/>
                      <a:r>
                        <a:rPr sz="1000" b="0">
                          <a:solidFill>
                            <a:srgbClr val="1B1526"/>
                          </a:solidFill>
                          <a:latin typeface="Consolas"/>
                        </a:rPr>
                        <a:t>33.7%</a:t>
                      </a:r>
                    </a:p>
                  </a:txBody>
                  <a:tcPr marL="82296" marR="82296" anchor="ctr">
                    <a:solidFill>
                      <a:srgbClr val="FFFFFF"/>
                    </a:solidFill>
                  </a:tcPr>
                </a:tc>
                <a:tc>
                  <a:txBody>
                    <a:bodyPr/>
                    <a:lstStyle/>
                    <a:p>
                      <a:pPr algn="ctr" rtl="1"/>
                      <a:r>
                        <a:rPr sz="1000" b="1">
                          <a:solidFill>
                            <a:srgbClr val="5B1E8C"/>
                          </a:solidFill>
                          <a:latin typeface="Consolas"/>
                        </a:rPr>
                        <a:t>45.0%</a:t>
                      </a:r>
                    </a:p>
                  </a:txBody>
                  <a:tcPr marL="82296" marR="82296" anchor="ctr">
                    <a:solidFill>
                      <a:srgbClr val="FFFFFF"/>
                    </a:solidFill>
                  </a:tcPr>
                </a:tc>
                <a:extLst>
                  <a:ext uri="{0D108BD9-81ED-4DB2-BD59-A6C34878D82A}">
                    <a16:rowId xmlns:a16="http://schemas.microsoft.com/office/drawing/2014/main" val="10002"/>
                  </a:ext>
                </a:extLst>
              </a:tr>
              <a:tr h="388620">
                <a:tc>
                  <a:txBody>
                    <a:bodyPr/>
                    <a:lstStyle/>
                    <a:p>
                      <a:pPr algn="r" rtl="1"/>
                      <a:r>
                        <a:rPr sz="1000" b="0">
                          <a:solidFill>
                            <a:srgbClr val="1B1526"/>
                          </a:solidFill>
                          <a:latin typeface="Segoe UI"/>
                        </a:rPr>
                        <a:t>ساعات المشاهدة لكل مستخدم</a:t>
                      </a:r>
                    </a:p>
                  </a:txBody>
                  <a:tcPr marL="82296" marR="82296" anchor="ctr">
                    <a:solidFill>
                      <a:srgbClr val="FFFFFF"/>
                    </a:solidFill>
                  </a:tcPr>
                </a:tc>
                <a:tc>
                  <a:txBody>
                    <a:bodyPr/>
                    <a:lstStyle/>
                    <a:p>
                      <a:pPr algn="ctr" rtl="1"/>
                      <a:r>
                        <a:rPr sz="1000" b="0">
                          <a:solidFill>
                            <a:srgbClr val="1B1526"/>
                          </a:solidFill>
                          <a:latin typeface="Consolas"/>
                        </a:rPr>
                        <a:t>25.1</a:t>
                      </a:r>
                    </a:p>
                  </a:txBody>
                  <a:tcPr marL="82296" marR="82296" anchor="ctr">
                    <a:solidFill>
                      <a:srgbClr val="FFFFFF"/>
                    </a:solidFill>
                  </a:tcPr>
                </a:tc>
                <a:tc>
                  <a:txBody>
                    <a:bodyPr/>
                    <a:lstStyle/>
                    <a:p>
                      <a:pPr algn="ctr" rtl="1"/>
                      <a:r>
                        <a:rPr sz="1000" b="1">
                          <a:solidFill>
                            <a:srgbClr val="5B1E8C"/>
                          </a:solidFill>
                          <a:latin typeface="Consolas"/>
                        </a:rPr>
                        <a:t>30.0</a:t>
                      </a:r>
                    </a:p>
                  </a:txBody>
                  <a:tcPr marL="82296" marR="82296" anchor="ctr">
                    <a:solidFill>
                      <a:srgbClr val="FFFFFF"/>
                    </a:solidFill>
                  </a:tcPr>
                </a:tc>
                <a:extLst>
                  <a:ext uri="{0D108BD9-81ED-4DB2-BD59-A6C34878D82A}">
                    <a16:rowId xmlns:a16="http://schemas.microsoft.com/office/drawing/2014/main" val="10003"/>
                  </a:ext>
                </a:extLst>
              </a:tr>
              <a:tr h="388620">
                <a:tc>
                  <a:txBody>
                    <a:bodyPr/>
                    <a:lstStyle/>
                    <a:p>
                      <a:pPr algn="r" rtl="1"/>
                      <a:r>
                        <a:rPr sz="1000" b="0">
                          <a:solidFill>
                            <a:srgbClr val="1B1526"/>
                          </a:solidFill>
                          <a:latin typeface="Segoe UI"/>
                        </a:rPr>
                        <a:t>المستخدمون في النطاق الحرج</a:t>
                      </a:r>
                    </a:p>
                  </a:txBody>
                  <a:tcPr marL="82296" marR="82296" anchor="ctr">
                    <a:solidFill>
                      <a:srgbClr val="FFFFFF"/>
                    </a:solidFill>
                  </a:tcPr>
                </a:tc>
                <a:tc>
                  <a:txBody>
                    <a:bodyPr/>
                    <a:lstStyle/>
                    <a:p>
                      <a:pPr algn="ctr" rtl="1"/>
                      <a:r>
                        <a:rPr sz="1000" b="0">
                          <a:solidFill>
                            <a:srgbClr val="1B1526"/>
                          </a:solidFill>
                          <a:latin typeface="Consolas"/>
                        </a:rPr>
                        <a:t>67.4%</a:t>
                      </a:r>
                    </a:p>
                  </a:txBody>
                  <a:tcPr marL="82296" marR="82296" anchor="ctr">
                    <a:solidFill>
                      <a:srgbClr val="FFFFFF"/>
                    </a:solidFill>
                  </a:tcPr>
                </a:tc>
                <a:tc>
                  <a:txBody>
                    <a:bodyPr/>
                    <a:lstStyle/>
                    <a:p>
                      <a:pPr algn="ctr" rtl="1"/>
                      <a:r>
                        <a:rPr sz="1000" b="1">
                          <a:solidFill>
                            <a:srgbClr val="5B1E8C"/>
                          </a:solidFill>
                          <a:latin typeface="Consolas"/>
                        </a:rPr>
                        <a:t>50.0%</a:t>
                      </a:r>
                    </a:p>
                  </a:txBody>
                  <a:tcPr marL="82296" marR="82296" anchor="ctr">
                    <a:solidFill>
                      <a:srgbClr val="FFFFFF"/>
                    </a:solidFill>
                  </a:tcPr>
                </a:tc>
                <a:extLst>
                  <a:ext uri="{0D108BD9-81ED-4DB2-BD59-A6C34878D82A}">
                    <a16:rowId xmlns:a16="http://schemas.microsoft.com/office/drawing/2014/main" val="10004"/>
                  </a:ext>
                </a:extLst>
              </a:tr>
              <a:tr h="388620">
                <a:tc>
                  <a:txBody>
                    <a:bodyPr/>
                    <a:lstStyle/>
                    <a:p>
                      <a:pPr algn="r" rtl="1"/>
                      <a:r>
                        <a:rPr sz="1000" b="0">
                          <a:solidFill>
                            <a:srgbClr val="1B1526"/>
                          </a:solidFill>
                          <a:latin typeface="Segoe UI"/>
                        </a:rPr>
                        <a:t>دقة محرّك التوصية</a:t>
                      </a:r>
                    </a:p>
                  </a:txBody>
                  <a:tcPr marL="82296" marR="82296" anchor="ctr">
                    <a:solidFill>
                      <a:srgbClr val="FFFFFF"/>
                    </a:solidFill>
                  </a:tcPr>
                </a:tc>
                <a:tc>
                  <a:txBody>
                    <a:bodyPr/>
                    <a:lstStyle/>
                    <a:p>
                      <a:pPr algn="ctr" rtl="1"/>
                      <a:r>
                        <a:rPr sz="1000" b="0">
                          <a:solidFill>
                            <a:srgbClr val="1B1526"/>
                          </a:solidFill>
                          <a:latin typeface="Consolas"/>
                        </a:rPr>
                        <a:t>0.276</a:t>
                      </a:r>
                    </a:p>
                  </a:txBody>
                  <a:tcPr marL="82296" marR="82296" anchor="ctr">
                    <a:solidFill>
                      <a:srgbClr val="FFFFFF"/>
                    </a:solidFill>
                  </a:tcPr>
                </a:tc>
                <a:tc>
                  <a:txBody>
                    <a:bodyPr/>
                    <a:lstStyle/>
                    <a:p>
                      <a:pPr algn="ctr" rtl="1"/>
                      <a:r>
                        <a:rPr sz="1000" b="1">
                          <a:solidFill>
                            <a:srgbClr val="5B1E8C"/>
                          </a:solidFill>
                          <a:latin typeface="Consolas"/>
                        </a:rPr>
                        <a:t>0.350</a:t>
                      </a:r>
                    </a:p>
                  </a:txBody>
                  <a:tcPr marL="82296" marR="82296" anchor="ctr">
                    <a:solidFill>
                      <a:srgbClr val="FFFFFF"/>
                    </a:solidFill>
                  </a:tcPr>
                </a:tc>
                <a:extLst>
                  <a:ext uri="{0D108BD9-81ED-4DB2-BD59-A6C34878D82A}">
                    <a16:rowId xmlns:a16="http://schemas.microsoft.com/office/drawing/2014/main" val="10005"/>
                  </a:ext>
                </a:extLst>
              </a:tr>
              <a:tr h="388620">
                <a:tc>
                  <a:txBody>
                    <a:bodyPr/>
                    <a:lstStyle/>
                    <a:p>
                      <a:pPr algn="r" rtl="1"/>
                      <a:r>
                        <a:rPr sz="1000" b="0">
                          <a:solidFill>
                            <a:srgbClr val="1B1526"/>
                          </a:solidFill>
                          <a:latin typeface="Segoe UI"/>
                        </a:rPr>
                        <a:t>حصة المكتبة المولّدة لـ80%</a:t>
                      </a:r>
                    </a:p>
                  </a:txBody>
                  <a:tcPr marL="82296" marR="82296" anchor="ctr">
                    <a:solidFill>
                      <a:srgbClr val="FFFFFF"/>
                    </a:solidFill>
                  </a:tcPr>
                </a:tc>
                <a:tc>
                  <a:txBody>
                    <a:bodyPr/>
                    <a:lstStyle/>
                    <a:p>
                      <a:pPr algn="ctr" rtl="1"/>
                      <a:r>
                        <a:rPr sz="1000" b="0">
                          <a:solidFill>
                            <a:srgbClr val="1B1526"/>
                          </a:solidFill>
                          <a:latin typeface="Consolas"/>
                        </a:rPr>
                        <a:t>22.0%</a:t>
                      </a:r>
                    </a:p>
                  </a:txBody>
                  <a:tcPr marL="82296" marR="82296" anchor="ctr">
                    <a:solidFill>
                      <a:srgbClr val="FFFFFF"/>
                    </a:solidFill>
                  </a:tcPr>
                </a:tc>
                <a:tc>
                  <a:txBody>
                    <a:bodyPr/>
                    <a:lstStyle/>
                    <a:p>
                      <a:pPr algn="ctr" rtl="1"/>
                      <a:r>
                        <a:rPr sz="1000" b="1">
                          <a:solidFill>
                            <a:srgbClr val="5B1E8C"/>
                          </a:solidFill>
                          <a:latin typeface="Consolas"/>
                        </a:rPr>
                        <a:t>35.0%</a:t>
                      </a:r>
                    </a:p>
                  </a:txBody>
                  <a:tcPr marL="82296" marR="82296" anchor="ctr">
                    <a:solidFill>
                      <a:srgbClr val="FFFFFF"/>
                    </a:solidFill>
                  </a:tcPr>
                </a:tc>
                <a:extLst>
                  <a:ext uri="{0D108BD9-81ED-4DB2-BD59-A6C34878D82A}">
                    <a16:rowId xmlns:a16="http://schemas.microsoft.com/office/drawing/2014/main" val="10006"/>
                  </a:ext>
                </a:extLst>
              </a:tr>
              <a:tr h="388620">
                <a:tc>
                  <a:txBody>
                    <a:bodyPr/>
                    <a:lstStyle/>
                    <a:p>
                      <a:pPr algn="r" rtl="1"/>
                      <a:r>
                        <a:rPr sz="1000" b="0">
                          <a:solidFill>
                            <a:srgbClr val="1B1526"/>
                          </a:solidFill>
                          <a:latin typeface="Segoe UI"/>
                        </a:rPr>
                        <a:t>تغطية قياس الأحداث</a:t>
                      </a:r>
                    </a:p>
                  </a:txBody>
                  <a:tcPr marL="82296" marR="82296" anchor="ctr">
                    <a:solidFill>
                      <a:srgbClr val="FCE6EC"/>
                    </a:solidFill>
                  </a:tcPr>
                </a:tc>
                <a:tc>
                  <a:txBody>
                    <a:bodyPr/>
                    <a:lstStyle/>
                    <a:p>
                      <a:pPr algn="ctr" rtl="1"/>
                      <a:r>
                        <a:rPr sz="1000" b="0">
                          <a:solidFill>
                            <a:srgbClr val="1B1526"/>
                          </a:solidFill>
                          <a:latin typeface="Consolas"/>
                        </a:rPr>
                        <a:t>0%</a:t>
                      </a:r>
                    </a:p>
                  </a:txBody>
                  <a:tcPr marL="82296" marR="82296" anchor="ctr">
                    <a:solidFill>
                      <a:srgbClr val="FCE6EC"/>
                    </a:solidFill>
                  </a:tcPr>
                </a:tc>
                <a:tc>
                  <a:txBody>
                    <a:bodyPr/>
                    <a:lstStyle/>
                    <a:p>
                      <a:pPr algn="ctr" rtl="1"/>
                      <a:r>
                        <a:rPr sz="1000" b="1">
                          <a:solidFill>
                            <a:srgbClr val="5B1E8C"/>
                          </a:solidFill>
                          <a:latin typeface="Consolas"/>
                        </a:rPr>
                        <a:t>100%</a:t>
                      </a:r>
                    </a:p>
                  </a:txBody>
                  <a:tcPr marL="82296" marR="82296" anchor="ctr">
                    <a:solidFill>
                      <a:srgbClr val="FCE6EC"/>
                    </a:solidFill>
                  </a:tcPr>
                </a:tc>
                <a:extLst>
                  <a:ext uri="{0D108BD9-81ED-4DB2-BD59-A6C34878D82A}">
                    <a16:rowId xmlns:a16="http://schemas.microsoft.com/office/drawing/2014/main" val="10007"/>
                  </a:ext>
                </a:extLst>
              </a:tr>
            </a:tbl>
          </a:graphicData>
        </a:graphic>
      </p:graphicFrame>
      <p:sp>
        <p:nvSpPr>
          <p:cNvPr id="30" name="TextBox 29"/>
          <p:cNvSpPr txBox="1"/>
          <p:nvPr/>
        </p:nvSpPr>
        <p:spPr>
          <a:xfrm>
            <a:off x="640080" y="6400800"/>
            <a:ext cx="10911535" cy="274320"/>
          </a:xfrm>
          <a:prstGeom prst="rect">
            <a:avLst/>
          </a:prstGeom>
          <a:noFill/>
        </p:spPr>
        <p:txBody>
          <a:bodyPr wrap="square" lIns="0" tIns="0" rIns="0" bIns="0">
            <a:spAutoFit/>
          </a:bodyPr>
          <a:lstStyle/>
          <a:p>
            <a:pPr algn="r" rtl="1">
              <a:spcAft>
                <a:spcPts val="0"/>
              </a:spcAft>
            </a:pPr>
            <a:r>
              <a:rPr sz="900" b="0">
                <a:solidFill>
                  <a:srgbClr val="6E6579"/>
                </a:solidFill>
                <a:latin typeface="Consolas"/>
              </a:rPr>
              <a:t>أعلى بنود هذه الخارطة رافعةً ليس ميزة، بل تدفّق الأحداث الذي لا نجمعه اليوم.</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شاشة عريضة</PresentationFormat>
  <Paragraphs>0</Paragraphs>
  <Slides>7</Slides>
  <Notes>7</Notes>
  <HiddenSlides>0</HiddenSlides>
  <MMClips>0</MMClips>
  <ScaleCrop>false</ScaleCrop>
  <HeadingPairs>
    <vt:vector size="4" baseType="variant">
      <vt:variant>
        <vt:lpstr>نسق</vt:lpstr>
      </vt:variant>
      <vt:variant>
        <vt:i4>1</vt:i4>
      </vt:variant>
      <vt:variant>
        <vt:lpstr>عناوين الشرائح</vt:lpstr>
      </vt:variant>
      <vt:variant>
        <vt:i4>7</vt:i4>
      </vt:variant>
    </vt:vector>
  </HeadingPairs>
  <TitlesOfParts>
    <vt:vector size="8" baseType="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8</cp:revision>
  <dcterms:created xsi:type="dcterms:W3CDTF">2013-01-27T09:14:16Z</dcterms:created>
  <dcterms:modified xsi:type="dcterms:W3CDTF">2026-08-23T08:15:25Z</dcterms:modified>
  <cp:category/>
</cp:coreProperties>
</file>